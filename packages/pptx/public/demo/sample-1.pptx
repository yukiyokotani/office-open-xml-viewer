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comments/modernComment.xml" ContentType="application/vnd.ms-powerpoint.comment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16" r:id="rId4"/>
  </p:sldMasterIdLst>
  <p:notesMasterIdLst>
    <p:notesMasterId r:id="rId14"/>
  </p:notesMasterIdLst>
  <p:handoutMasterIdLst>
    <p:handoutMasterId r:id="rId15"/>
  </p:handoutMasterIdLst>
  <p:sldIdLst>
    <p:sldId id="1550" r:id="rId5"/>
    <p:sldId id="1546" r:id="rId6"/>
    <p:sldId id="1542" r:id="rId7"/>
    <p:sldId id="1547" r:id="rId8"/>
    <p:sldId id="1543" r:id="rId9"/>
    <p:sldId id="1548" r:id="rId10"/>
    <p:sldId id="1544" r:id="rId11"/>
    <p:sldId id="1549" r:id="rId12"/>
    <p:sldId id="154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941987A-41B7-49AC-EE6E-03F2D0BD95BA}" name="Daria Naidenov" initials="DN" userId="S::danaidenov@microsoft.com::ab38ab5f-bdf0-4774-ae5a-d2782abb2027" providerId="AD"/>
  <p188:author id="{55555555-5555-4555-8555-555555555555}" name="Olivia Bennett" initials="OB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7B5927-866D-BB4A-8234-A3A013B9E3D2}" v="57" dt="2026-04-19T15:25:29.108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11"/>
    <p:restoredTop sz="94661"/>
  </p:normalViewPr>
  <p:slideViewPr>
    <p:cSldViewPr snapToGrid="0">
      <p:cViewPr varScale="1">
        <p:scale>
          <a:sx n="83" d="100"/>
          <a:sy n="83" d="100"/>
        </p:scale>
        <p:origin x="224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title>
      <c:tx>
        <c:rich>
          <a:bodyPr/>
          <a:lstStyle/>
          <a:p>
            <a:pPr>
              <a:defRPr lang="ja-JP" sz="1600" b="1">
                <a:solidFill>
                  <a:schemeClr val="tx2"/>
                </a:solidFill>
              </a:defRPr>
            </a:pPr>
            <a:r>
              <a:rPr lang="en-US" sz="1600" b="1">
                <a:solidFill>
                  <a:schemeClr val="tx2"/>
                </a:solidFill>
              </a:rPr>
              <a:t>Canopy Cover Index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Index</c:v>
          </c:tx>
          <c:spPr>
            <a:ln w="28575">
              <a:solidFill>
                <a:schemeClr val="accent2"/>
              </a:solidFill>
            </a:ln>
          </c:spPr>
          <c:marker>
            <c:symbol val="circle"/>
            <c:size val="6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marke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ja-JP" sz="10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7"/>
              <c:pt idx="0">
                <c:v>2019</c:v>
              </c:pt>
              <c:pt idx="1">
                <c:v>2020</c:v>
              </c:pt>
              <c:pt idx="2">
                <c:v>2021</c:v>
              </c:pt>
              <c:pt idx="3">
                <c:v>2022</c:v>
              </c:pt>
              <c:pt idx="4">
                <c:v>2023</c:v>
              </c:pt>
              <c:pt idx="5">
                <c:v>2024</c:v>
              </c:pt>
              <c:pt idx="6">
                <c:v>2025</c:v>
              </c:pt>
            </c:strLit>
          </c:cat>
          <c:val>
            <c:numLit>
              <c:formatCode>General</c:formatCode>
              <c:ptCount val="7"/>
              <c:pt idx="0">
                <c:v>68.2</c:v>
              </c:pt>
              <c:pt idx="1">
                <c:v>67.400000000000006</c:v>
              </c:pt>
              <c:pt idx="2">
                <c:v>65.900000000000006</c:v>
              </c:pt>
              <c:pt idx="3">
                <c:v>63.1</c:v>
              </c:pt>
              <c:pt idx="4">
                <c:v>64.7</c:v>
              </c:pt>
              <c:pt idx="5">
                <c:v>66.8</c:v>
              </c:pt>
              <c:pt idx="6">
                <c:v>69.099999999999994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FA03-2F48-99C6-06DCECBA14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lang="ja-JP" sz="10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72"/>
          <c:min val="60"/>
        </c:scaling>
        <c:delete val="0"/>
        <c:axPos val="l"/>
        <c:majorGridlines>
          <c:spPr>
            <a:ln w="3175">
              <a:solidFill>
                <a:schemeClr val="accent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lang="ja-JP" sz="1000"/>
            </a:pPr>
            <a:endParaRPr lang="en-US"/>
          </a:p>
        </c:txPr>
        <c:crossAx val="1"/>
        <c:crosses val="autoZero"/>
        <c:crossBetween val="between"/>
      </c:valAx>
      <c:spPr>
        <a:solidFill>
          <a:schemeClr val="bg1"/>
        </a:solidFill>
        <a:ln>
          <a:noFill/>
        </a:ln>
      </c:spPr>
    </c:plotArea>
    <c:plotVisOnly val="1"/>
    <c:dispBlanksAs val="zero"/>
    <c:showDLblsOverMax val="1"/>
  </c:chart>
  <c:spPr>
    <a:noFill/>
    <a:ln>
      <a:noFill/>
    </a:ln>
  </c:spPr>
</c:chartSpace>
</file>

<file path=ppt/comments/modernComment.xml><?xml version="1.0" encoding="utf-8"?>
<p188:cmLst xmlns:p188="http://schemas.microsoft.com/office/powerpoint/2018/8/main" xmlns:a="http://schemas.openxmlformats.org/drawingml/2006/main" xmlns:pc="http://schemas.microsoft.com/office/powerpoint/2013/main/command" xmlns:ac="http://schemas.microsoft.com/office/drawing/2013/main/command">
  <p188:cm id="{44444444-4444-4444-8444-444444444444}" authorId="{55555555-5555-4555-8555-555555555555}" status="active" created="2026-08-25T13:00:00Z">
    <ac:deMkLst>
      <pc:docMk/>
      <pc:sldMk sldId="1550"/>
      <ac:spMk id="3"/>
    </ac:deMkLst>
    <p188:pos x="5956300" y="0"/>
    <p188:replyLst>
      <p188:reply id="{66666666-6666-4666-8666-666666666666}" authorId="{55555555-5555-4555-8555-555555555555}" status="active" created="2026-08-25T13:01:00Z">
        <p188:txBody>
          <a:bodyPr/>
          <a:lstStyle/>
          <a:p>
            <a:r>
              <a:t>The period matches the source workbook.</a:t>
            </a:r>
          </a:p>
        </p188:txBody>
      </p188:reply>
    </p188:replyLst>
    <p188:txBody>
      <a:bodyPr/>
      <a:lstStyle/>
      <a:p>
        <a:r>
          <a:t>Confirm the reporting period before publishing.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E5A671A-CD1D-3726-5EBC-4251B0B1F630}"/>
              </a:ext>
            </a:extLst>
          </p:cNvPr>
          <p:cNvCxnSpPr/>
          <p:nvPr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304" y="2241964"/>
            <a:ext cx="4564376" cy="429768"/>
          </a:xfrm>
        </p:spPr>
        <p:txBody>
          <a:bodyPr/>
          <a:lstStyle/>
          <a:p>
            <a:r>
              <a:rPr lang="en-US"/>
              <a:t>STATE OF THE FOREST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70032-0FB4-49A9-8F94-A4A948FEFA19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2BC221-6328-07B8-5E00-E12DFAC6BF43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075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 with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1419" y="1001716"/>
            <a:ext cx="4796545" cy="1503374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92E087-D311-16FB-DFD8-7DFD79458D0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4150"/>
            <a:ext cx="609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7304" y="2231454"/>
            <a:ext cx="4564376" cy="429768"/>
          </a:xfrm>
        </p:spPr>
        <p:txBody>
          <a:bodyPr/>
          <a:lstStyle/>
          <a:p>
            <a:r>
              <a:rPr lang="en-US"/>
              <a:t>STATE OF THE FOREST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2353" y="5260880"/>
            <a:ext cx="1494474" cy="429768"/>
          </a:xfrm>
        </p:spPr>
        <p:txBody>
          <a:bodyPr/>
          <a:lstStyle/>
          <a:p>
            <a:fld id="{569377BB-3A7F-48AE-8949-DF715FC88965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8329" y="0"/>
            <a:ext cx="5331038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76581" y="2886088"/>
            <a:ext cx="4781383" cy="3336912"/>
          </a:xfrm>
        </p:spPr>
        <p:txBody>
          <a:bodyPr anchor="b">
            <a:normAutofit/>
          </a:bodyPr>
          <a:lstStyle>
            <a:lvl1pPr marL="0" indent="0">
              <a:buFont typeface="+mj-lt"/>
              <a:buNone/>
              <a:defRPr sz="1600"/>
            </a:lvl1pPr>
            <a:lvl2pPr marL="228600" indent="0">
              <a:buFont typeface="+mj-lt"/>
              <a:buNone/>
              <a:defRPr sz="16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600"/>
            </a:lvl4pPr>
            <a:lvl5pPr marL="914400" indent="0">
              <a:buFont typeface="+mj-lt"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1EF905-FBC0-6AEE-DA7E-A6361F7EF6BB}"/>
              </a:ext>
            </a:extLst>
          </p:cNvPr>
          <p:cNvCxnSpPr>
            <a:cxnSpLocks/>
          </p:cNvCxnSpPr>
          <p:nvPr userDrawn="1"/>
        </p:nvCxnSpPr>
        <p:spPr>
          <a:xfrm>
            <a:off x="609904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C5A10F-4276-544F-CA8D-14E3EDCA493B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567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900433"/>
            <a:ext cx="3771900" cy="5221285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STATE OF THE FOREST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B4E55-CD3E-4D87-9041-7A8452BD5273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8911" y="900432"/>
            <a:ext cx="6209054" cy="5221285"/>
          </a:xfr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E7E8DAF-8174-2859-E029-6F85464CAC9F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228395-2719-9A44-CE27-6CFD8BD848E8}"/>
              </a:ext>
            </a:extLst>
          </p:cNvPr>
          <p:cNvCxnSpPr>
            <a:cxnSpLocks/>
          </p:cNvCxnSpPr>
          <p:nvPr userDrawn="1"/>
        </p:nvCxnSpPr>
        <p:spPr>
          <a:xfrm>
            <a:off x="4883705" y="164150"/>
            <a:ext cx="73082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83E6F6-12DD-3AC0-8C59-D6E9DEDA1456}"/>
              </a:ext>
            </a:extLst>
          </p:cNvPr>
          <p:cNvCxnSpPr>
            <a:cxnSpLocks/>
          </p:cNvCxnSpPr>
          <p:nvPr userDrawn="1"/>
        </p:nvCxnSpPr>
        <p:spPr>
          <a:xfrm>
            <a:off x="4883705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441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449" y="1001715"/>
            <a:ext cx="3401568" cy="1127760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062638" y="2236683"/>
            <a:ext cx="4553921" cy="4297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STATE OF THE FOREST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532354" y="5260880"/>
            <a:ext cx="1494476" cy="429768"/>
          </a:xfrm>
        </p:spPr>
        <p:txBody>
          <a:bodyPr/>
          <a:lstStyle/>
          <a:p>
            <a:fld id="{33B50C95-85D9-49F9-99D8-E6845F008D35}" type="datetime1">
              <a:rPr lang="en-US" smtClean="0"/>
              <a:t>4/20/26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4DF952-8FA0-48F5-F7EF-53D541404A33}"/>
              </a:ext>
            </a:extLst>
          </p:cNvPr>
          <p:cNvCxnSpPr>
            <a:cxnSpLocks/>
          </p:cNvCxnSpPr>
          <p:nvPr userDrawn="1"/>
        </p:nvCxnSpPr>
        <p:spPr>
          <a:xfrm>
            <a:off x="431800" y="164150"/>
            <a:ext cx="38002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1448" y="2491461"/>
            <a:ext cx="3401567" cy="3731539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600"/>
            </a:lvl2pPr>
            <a:lvl3pPr marL="457200" indent="0">
              <a:buNone/>
              <a:defRPr sz="1600"/>
            </a:lvl3pPr>
            <a:lvl4pPr marL="685800" indent="0">
              <a:buNone/>
              <a:defRPr sz="1600"/>
            </a:lvl4pPr>
            <a:lvl5pPr marL="914400" indent="0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4499" y="0"/>
            <a:ext cx="7962582" cy="6858000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r="2"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6E75C3-3D50-62F4-97A1-08D85ABC2127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D9DCC5-4A76-A29C-BDAD-62E571E6267E}"/>
              </a:ext>
            </a:extLst>
          </p:cNvPr>
          <p:cNvCxnSpPr>
            <a:cxnSpLocks/>
          </p:cNvCxnSpPr>
          <p:nvPr userDrawn="1"/>
        </p:nvCxnSpPr>
        <p:spPr>
          <a:xfrm>
            <a:off x="4232008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1069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328" y="5109524"/>
            <a:ext cx="4364200" cy="1113476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STATE OF THE FOREST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3E0CC-5553-421C-8D81-3F82FF869EDA}" type="datetime1">
              <a:rPr lang="en-US" smtClean="0"/>
              <a:t>4/20/26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8327" y="0"/>
            <a:ext cx="11593671" cy="4728524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109523"/>
            <a:ext cx="6208724" cy="1113477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600"/>
            </a:lvl3pPr>
            <a:lvl4pPr marL="685800" indent="0">
              <a:buFont typeface="Arial" panose="020B0604020202020204" pitchFamily="34" charset="0"/>
              <a:buNone/>
              <a:defRPr sz="1600"/>
            </a:lvl4pPr>
            <a:lvl5pPr marL="914400" indent="0">
              <a:buFont typeface="Arial" panose="020B0604020202020204" pitchFamily="34" charset="0"/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7E7B67-A585-C4C0-BD50-861ED489B135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1576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 18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1" y="1001715"/>
            <a:ext cx="5955028" cy="5477511"/>
          </a:xfrm>
        </p:spPr>
        <p:txBody>
          <a:bodyPr anchor="b">
            <a:normAutofit/>
          </a:bodyPr>
          <a:lstStyle>
            <a:lvl1pPr>
              <a:defRPr sz="7200" b="0" i="0">
                <a:latin typeface="+mj-lt"/>
                <a:ea typeface="Dotum" panose="020B0600000101010101" pitchFamily="34" charset="-127"/>
                <a:cs typeface="Noto Sans Kannada Thin" panose="020B02020405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-2067302" y="2231454"/>
            <a:ext cx="4564376" cy="429768"/>
          </a:xfrm>
        </p:spPr>
        <p:txBody>
          <a:bodyPr/>
          <a:lstStyle/>
          <a:p>
            <a:r>
              <a:rPr lang="en-US"/>
              <a:t>STATE OF THE FOREST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-532352" y="5260879"/>
            <a:ext cx="1494475" cy="429768"/>
          </a:xfrm>
        </p:spPr>
        <p:txBody>
          <a:bodyPr/>
          <a:lstStyle/>
          <a:p>
            <a:fld id="{341E3BD6-1BE7-4293-98B0-C8B456DEC98E}" type="datetime1">
              <a:rPr lang="en-US" smtClean="0"/>
              <a:t>4/20/26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" y="649287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65403" y="-1"/>
            <a:ext cx="5131677" cy="6222999"/>
          </a:xfrm>
          <a:blipFill dpi="0" rotWithShape="1">
            <a:blip r:embed="rId2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8FA8915-517E-32B2-6836-7A69DEF7C849}"/>
              </a:ext>
            </a:extLst>
          </p:cNvPr>
          <p:cNvCxnSpPr>
            <a:cxnSpLocks/>
          </p:cNvCxnSpPr>
          <p:nvPr userDrawn="1"/>
        </p:nvCxnSpPr>
        <p:spPr>
          <a:xfrm>
            <a:off x="7060324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76B2467-9468-3DE8-CA1C-7B68F7ED9A67}"/>
              </a:ext>
            </a:extLst>
          </p:cNvPr>
          <p:cNvCxnSpPr>
            <a:cxnSpLocks/>
          </p:cNvCxnSpPr>
          <p:nvPr userDrawn="1"/>
        </p:nvCxnSpPr>
        <p:spPr>
          <a:xfrm>
            <a:off x="0" y="164150"/>
            <a:ext cx="70603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77414" y="6375748"/>
            <a:ext cx="4847572" cy="363255"/>
          </a:xfrm>
        </p:spPr>
        <p:txBody>
          <a:bodyPr anchor="ctr">
            <a:normAutofit/>
          </a:bodyPr>
          <a:lstStyle>
            <a:lvl1pPr marL="0" indent="0">
              <a:buNone/>
              <a:defRPr sz="1600" b="0" i="0">
                <a:latin typeface="+mj-lt"/>
              </a:defRPr>
            </a:lvl1pPr>
            <a:lvl2pPr>
              <a:defRPr sz="1600" b="0" i="0">
                <a:latin typeface="Univers Light" panose="020B0403020202020204" pitchFamily="34" charset="0"/>
              </a:defRPr>
            </a:lvl2pPr>
            <a:lvl3pPr>
              <a:defRPr sz="1600" b="0" i="0">
                <a:latin typeface="Univers Light" panose="020B0403020202020204" pitchFamily="34" charset="0"/>
              </a:defRPr>
            </a:lvl3pPr>
            <a:lvl4pPr>
              <a:defRPr sz="1600" b="0" i="0">
                <a:latin typeface="Univers Light" panose="020B0403020202020204" pitchFamily="34" charset="0"/>
              </a:defRPr>
            </a:lvl4pPr>
            <a:lvl5pPr>
              <a:defRPr sz="1600" b="0" i="0">
                <a:latin typeface="Univers Light" panose="020B0403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2299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F240C4-9480-994E-0BD5-BF7BE95F9F7B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70" y="5109525"/>
            <a:ext cx="10367905" cy="1207192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2400" b="0" i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STATE OF THE FOREST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BD6C5-FCE0-436F-BDB9-607AA1896A18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4030" y="1340489"/>
            <a:ext cx="10367349" cy="3388035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30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547AA0-CA68-609A-06D4-5F771838B5D3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748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5B07A5-D0B6-BEDF-13F7-7E32618B6773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STATE OF THE FOREST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0309F-82F1-48B4-8AF1-7FAFA4EA46A8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3479" y="1001713"/>
            <a:ext cx="10924473" cy="5378063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4000" b="0" i="0" cap="all" baseline="0">
                <a:latin typeface="+mn-lt"/>
              </a:defRPr>
            </a:lvl1pPr>
            <a:lvl2pPr marL="228600" indent="0">
              <a:lnSpc>
                <a:spcPct val="100000"/>
              </a:lnSpc>
              <a:buNone/>
              <a:defRPr sz="4000" b="0" i="0" cap="all" baseline="0">
                <a:latin typeface="+mn-lt"/>
              </a:defRPr>
            </a:lvl2pPr>
            <a:lvl3pPr marL="457200" indent="0">
              <a:lnSpc>
                <a:spcPct val="100000"/>
              </a:lnSpc>
              <a:buNone/>
              <a:defRPr sz="4000" b="0" i="0" cap="all" baseline="0">
                <a:latin typeface="+mn-lt"/>
              </a:defRPr>
            </a:lvl3pPr>
            <a:lvl4pPr marL="685800" indent="0">
              <a:lnSpc>
                <a:spcPct val="100000"/>
              </a:lnSpc>
              <a:buNone/>
              <a:defRPr sz="4000" b="0" i="0" cap="all" baseline="0">
                <a:latin typeface="+mn-lt"/>
              </a:defRPr>
            </a:lvl4pPr>
            <a:lvl5pPr marL="914400" indent="0">
              <a:lnSpc>
                <a:spcPct val="100000"/>
              </a:lnSpc>
              <a:buNone/>
              <a:defRPr sz="4000" b="0" i="0" cap="all" baseline="0">
                <a:latin typeface="+mn-lt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E71C1F5-4C28-1974-E5FE-84A75C2718B0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765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33CF370-3CA5-B9C3-AA2C-1D52A27AD182}"/>
              </a:ext>
            </a:extLst>
          </p:cNvPr>
          <p:cNvCxnSpPr/>
          <p:nvPr userDrawn="1"/>
        </p:nvCxnSpPr>
        <p:spPr>
          <a:xfrm>
            <a:off x="429209" y="164150"/>
            <a:ext cx="117627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5"/>
            <a:ext cx="10923934" cy="11277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STATE OF THE FOREST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58E83-499B-42C0-A29C-116A7958FAB2}" type="datetime1">
              <a:rPr lang="en-US" smtClean="0"/>
              <a:t>4/20/26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4030" y="2129474"/>
            <a:ext cx="5266090" cy="409352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886" y="2129473"/>
            <a:ext cx="5266078" cy="4093526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DA0E66B-621F-DCB6-E24E-748318E12F2D}"/>
              </a:ext>
            </a:extLst>
          </p:cNvPr>
          <p:cNvCxnSpPr>
            <a:cxnSpLocks/>
          </p:cNvCxnSpPr>
          <p:nvPr userDrawn="1"/>
        </p:nvCxnSpPr>
        <p:spPr>
          <a:xfrm>
            <a:off x="42979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815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" y="6492513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 i="0">
                <a:solidFill>
                  <a:schemeClr val="tx1"/>
                </a:solidFill>
                <a:latin typeface="+mn-lt"/>
                <a:ea typeface="Batang" panose="02030600000101010101" pitchFamily="18" charset="-127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2067304" y="2231454"/>
            <a:ext cx="4564376" cy="4297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/>
                </a:solidFill>
                <a:latin typeface="+mn-lt"/>
                <a:ea typeface="Batang" panose="02030600000101010101" pitchFamily="18" charset="-127"/>
              </a:defRPr>
            </a:lvl1pPr>
          </a:lstStyle>
          <a:p>
            <a:r>
              <a:rPr lang="en-US"/>
              <a:t>STATE OF THE FOREST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532352" y="5260879"/>
            <a:ext cx="1494475" cy="4297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/>
                </a:solidFill>
                <a:latin typeface="+mn-lt"/>
                <a:ea typeface="Batang" panose="02030600000101010101" pitchFamily="18" charset="-127"/>
              </a:defRPr>
            </a:lvl1pPr>
          </a:lstStyle>
          <a:p>
            <a:fld id="{652F8955-0F19-465D-B095-4EFD5ED08188}" type="datetime1">
              <a:rPr lang="en-US" smtClean="0"/>
              <a:pPr/>
              <a:t>4/20/26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030" y="2129474"/>
            <a:ext cx="10923934" cy="409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0" y="1001714"/>
            <a:ext cx="10923934" cy="7556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37627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3" Type="http://schemas.microsoft.com/office/2018/10/relationships/comments" Target="../comments/modernComment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pied Picture 17">
            <a:extLst>
              <a:ext uri="{FF2B5EF4-FFF2-40B4-BE49-F238E27FC236}">
                <a16:creationId xmlns:a16="http://schemas.microsoft.com/office/drawing/2014/main" id="{E15E94CA-3122-5649-AEDF-F6208D44F94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061200" y="0"/>
            <a:ext cx="51308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1" y="1001715"/>
            <a:ext cx="5955028" cy="5477511"/>
          </a:xfrm>
        </p:spPr>
        <p:txBody>
          <a:bodyPr/>
          <a:lstStyle/>
          <a:p>
            <a:r>
              <a:rPr lang="en-US"/>
              <a:t>STATE OF THE FOREST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5000" y="6477000"/>
            <a:ext cx="5956300" cy="304800"/>
          </a:xfrm>
        </p:spPr>
        <p:txBody>
          <a:bodyPr>
            <a:normAutofit fontScale="85000" lnSpcReduction="20000"/>
          </a:bodyPr>
          <a:lstStyle/>
          <a:p>
            <a:r>
              <a:rPr lang="en-US"/>
              <a:t>Annual Ecological Review  —  Fiscal Year 2025</a:t>
            </a:r>
          </a:p>
        </p:txBody>
      </p:sp>
    </p:spTree>
    <p:extLst>
      <p:ext uri="{BB962C8B-B14F-4D97-AF65-F5344CB8AC3E}">
        <p14:creationId xmlns:p14="http://schemas.microsoft.com/office/powerpoint/2010/main" val="4067053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0D9FB-B08B-6550-BEBF-B43074192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30805-9EDF-DFE1-AE27-78BEC6928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STATE OF THE FOREST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97480-562D-362F-4FFD-70F352A11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2</a:t>
            </a:fld>
            <a:endParaRPr lang="en-US"/>
          </a:p>
        </p:txBody>
      </p:sp>
      <p:pic>
        <p:nvPicPr>
          <p:cNvPr id="8" name="図プレースホルダー 7">
            <a:extLst>
              <a:ext uri="{FF2B5EF4-FFF2-40B4-BE49-F238E27FC236}">
                <a16:creationId xmlns:a16="http://schemas.microsoft.com/office/drawing/2014/main" id="{A96DE265-95AD-3D4B-BEEB-AB265AC75BF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9" b="89"/>
          <a:stretch/>
        </p:blipFill>
        <p:spPr>
          <a:prstGeom prst="rect">
            <a:avLst/>
          </a:prstGeom>
          <a:blipFill dpi="0" rotWithShape="1">
            <a:blip r:embed="rId3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C7904-BA22-561E-1DE0-8E716FCEA69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anchor="ctr"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200" b="1">
                <a:solidFill>
                  <a:schemeClr val="accent2"/>
                </a:solidFill>
              </a:rPr>
              <a:t>01   </a:t>
            </a:r>
            <a:r>
              <a:rPr lang="en-US" sz="1600"/>
              <a:t>Executive Summary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b="1">
                <a:solidFill>
                  <a:schemeClr val="accent2"/>
                </a:solidFill>
              </a:rPr>
              <a:t>02   </a:t>
            </a:r>
            <a:r>
              <a:rPr lang="en-US" sz="1600"/>
              <a:t>Canopy &amp; Growth Metrics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b="1">
                <a:solidFill>
                  <a:schemeClr val="accent2"/>
                </a:solidFill>
              </a:rPr>
              <a:t>03   </a:t>
            </a:r>
            <a:r>
              <a:rPr lang="en-US" sz="1600"/>
              <a:t>Biodiversity Index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b="1">
                <a:solidFill>
                  <a:schemeClr val="accent2"/>
                </a:solidFill>
              </a:rPr>
              <a:t>04   </a:t>
            </a:r>
            <a:r>
              <a:rPr lang="en-US" sz="1600"/>
              <a:t>Managed vs. Old-Growth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b="1">
                <a:solidFill>
                  <a:schemeClr val="accent2"/>
                </a:solidFill>
              </a:rPr>
              <a:t>05   </a:t>
            </a:r>
            <a:r>
              <a:rPr lang="en-US" sz="1600"/>
              <a:t>Voices from the Field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200" b="1">
                <a:solidFill>
                  <a:schemeClr val="accent2"/>
                </a:solidFill>
              </a:rPr>
              <a:t>06   </a:t>
            </a:r>
            <a:r>
              <a:rPr lang="en-US" sz="1600"/>
              <a:t>Outlook &amp; Next Steps</a:t>
            </a:r>
          </a:p>
        </p:txBody>
      </p:sp>
    </p:spTree>
    <p:extLst>
      <p:ext uri="{BB962C8B-B14F-4D97-AF65-F5344CB8AC3E}">
        <p14:creationId xmlns:p14="http://schemas.microsoft.com/office/powerpoint/2010/main" val="2571083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96B45-59A7-C589-9ECA-BA4BE7D7D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EXECUTIVE SUMMARY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0B7AB3-FA55-AF58-6303-A6C6B7622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STATE OF THE FOREST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47D68-CFC1-8AF4-FE7E-36D912B1B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FE3E85-F977-4917-D2F3-E64C503441F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i="1">
                <a:solidFill>
                  <a:schemeClr val="accent2"/>
                </a:solidFill>
              </a:rPr>
              <a:t>A measured look at twelve months of observation across 42,000 hectares of mixed temperate woodland.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b="1">
                <a:solidFill>
                  <a:schemeClr val="accent2"/>
                </a:solidFill>
              </a:rPr>
              <a:t>KEY FINDINGS</a:t>
            </a:r>
          </a:p>
          <a:p>
            <a:pPr marL="171450" indent="-171450">
              <a:spcBef>
                <a:spcPts val="300"/>
              </a:spcBef>
              <a:buFont typeface="Arial"/>
              <a:buChar char="—"/>
            </a:pPr>
            <a:r>
              <a:rPr lang="en-US" sz="1300"/>
              <a:t>Canopy cover expanded by </a:t>
            </a:r>
            <a:r>
              <a:rPr lang="en-US" sz="1300" b="1"/>
              <a:t>3.4%</a:t>
            </a:r>
            <a:r>
              <a:rPr lang="en-US" sz="1300"/>
              <a:t>, the strongest gain in seven years.</a:t>
            </a:r>
          </a:p>
          <a:p>
            <a:pPr marL="171450" indent="-171450">
              <a:spcBef>
                <a:spcPts val="300"/>
              </a:spcBef>
              <a:buFont typeface="Arial"/>
              <a:buChar char="—"/>
            </a:pPr>
            <a:r>
              <a:rPr lang="en-US" sz="1300"/>
              <a:t>Avian species richness held steady; ground-nesting populations recovered modestly.</a:t>
            </a:r>
          </a:p>
          <a:p>
            <a:pPr marL="171450" indent="-171450">
              <a:spcBef>
                <a:spcPts val="300"/>
              </a:spcBef>
              <a:buFont typeface="Arial"/>
              <a:buChar char="—"/>
            </a:pPr>
            <a:r>
              <a:rPr lang="en-US" sz="1300"/>
              <a:t>Drought stress in the southern parcels warrants a revised irrigation plan for FY26.</a:t>
            </a:r>
          </a:p>
          <a:p>
            <a:pPr marL="171450" indent="-171450">
              <a:spcBef>
                <a:spcPts val="300"/>
              </a:spcBef>
              <a:buFont typeface="Arial"/>
              <a:buChar char="—"/>
            </a:pPr>
            <a:r>
              <a:rPr lang="en-US" sz="1300"/>
              <a:t>Visitor footfall rose 18%; trail erosion remains within tolerance thresholds.</a:t>
            </a:r>
          </a:p>
        </p:txBody>
      </p:sp>
    </p:spTree>
    <p:extLst>
      <p:ext uri="{BB962C8B-B14F-4D97-AF65-F5344CB8AC3E}">
        <p14:creationId xmlns:p14="http://schemas.microsoft.com/office/powerpoint/2010/main" val="1024479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5782E-E94C-F7FF-5DDC-7C1DFF856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100" b="1">
                <a:solidFill>
                  <a:schemeClr val="accent2"/>
                </a:solidFill>
              </a:rPr>
              <a:t>PART I</a:t>
            </a:r>
          </a:p>
          <a:p>
            <a:pPr marL="0" indent="0">
              <a:buNone/>
            </a:pPr>
            <a:r>
              <a:rPr lang="en-US"/>
              <a:t>Measuring the Canopy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2D5DC-5C1A-B038-F8C7-B1BA6254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STATE OF THE FOREST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8C2CB-6E2E-DF1B-8A65-092437051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4</a:t>
            </a:fld>
            <a:endParaRPr lang="en-US"/>
          </a:p>
        </p:txBody>
      </p:sp>
      <p:pic>
        <p:nvPicPr>
          <p:cNvPr id="8" name="図プレースホルダー 7">
            <a:extLst>
              <a:ext uri="{FF2B5EF4-FFF2-40B4-BE49-F238E27FC236}">
                <a16:creationId xmlns:a16="http://schemas.microsoft.com/office/drawing/2014/main" id="{DE7D8BCA-FD1C-EE80-4C6A-55E43628B0C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2" b="52"/>
          <a:stretch/>
        </p:blipFill>
        <p:spPr>
          <a:prstGeom prst="rect">
            <a:avLst/>
          </a:prstGeom>
          <a:blipFill dpi="0" rotWithShape="1">
            <a:blip r:embed="rId3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15141-87C9-23DF-ECBC-B828494C9F1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i="1">
                <a:solidFill>
                  <a:schemeClr val="accent2"/>
                </a:solidFill>
              </a:rPr>
              <a:t>Quantitative indicators of forest health, captured through remote sensing and in-field transects.</a:t>
            </a:r>
          </a:p>
        </p:txBody>
      </p:sp>
    </p:spTree>
    <p:extLst>
      <p:ext uri="{BB962C8B-B14F-4D97-AF65-F5344CB8AC3E}">
        <p14:creationId xmlns:p14="http://schemas.microsoft.com/office/powerpoint/2010/main" val="2361257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C32F8-E21D-68DC-2A6B-6A44F0117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CANOPY &amp; GROWTH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B0929-CD1B-0E1A-BF53-A7DB452F1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STATE OF THE FOREST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C3E63-211A-BA72-7F7D-8870F352C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5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5B5EE-EC32-8941-B9F3-74604A2980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000" i="1">
                <a:solidFill>
                  <a:schemeClr val="accent2"/>
                </a:solidFill>
              </a:rPr>
              <a:t>Figure 1.  Canopy cover index by quarter, 2019–2025. Source: aerial LIDAR composites.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5F83F2-AAC5-A5A2-512A-01B647657F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chemeClr val="accent2"/>
                </a:solidFill>
              </a:rPr>
              <a:t>A QUIET RECOVERY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300"/>
              <a:t>After three consecutive years of contraction, the canopy index climbed back above the seven-year mean in Q2 and has since held.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3600" b="1">
                <a:solidFill>
                  <a:schemeClr val="accent2"/>
                </a:solidFill>
              </a:rPr>
              <a:t>+3.4%</a:t>
            </a:r>
          </a:p>
          <a:p>
            <a:pPr marL="0" indent="0">
              <a:buNone/>
            </a:pPr>
            <a:r>
              <a:rPr lang="en-US" sz="1100">
                <a:solidFill>
                  <a:schemeClr val="accent2"/>
                </a:solidFill>
              </a:rPr>
              <a:t>Year-over-year canopy gain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200" i="1"/>
              <a:t>Driver: replanting in the 2022 burn scar is now visible from altitude.</a:t>
            </a:r>
          </a:p>
        </p:txBody>
      </p:sp>
      <p:graphicFrame>
        <p:nvGraphicFramePr>
          <p:cNvPr id="201" name="Canopy Chart"/>
          <p:cNvGraphicFramePr/>
          <p:nvPr>
            <p:extLst>
              <p:ext uri="{D42A27DB-BD31-4B8C-83A1-F6EECF244321}">
                <p14:modId xmlns:p14="http://schemas.microsoft.com/office/powerpoint/2010/main" val="3121424631"/>
              </p:ext>
            </p:extLst>
          </p:nvPr>
        </p:nvGraphicFramePr>
        <p:xfrm>
          <a:off x="635000" y="2222500"/>
          <a:ext cx="52705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97363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701D7-435D-8E7D-53C0-66C0C37F5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C6C6DB8-3FC9-C305-0440-3BB83263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BIODIVERSITY SNAPSHOT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55104D-69A8-58FF-868A-7F17105C2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STATE OF THE FOREST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59E7F2-0D61-4491-A0F7-F96292DA0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236CAB-BB4B-BDCA-63F6-F77BA904E53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i="1">
                <a:solidFill>
                  <a:schemeClr val="accent2"/>
                </a:solidFill>
              </a:rPr>
              <a:t>Observed species counts across six taxonomic groups, compared against the baseline established in 2018.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8DEFF2C0-9583-244F-AD6C-3A56A42FA152}"/>
              </a:ext>
            </a:extLst>
          </p:cNvPr>
          <p:cNvGraphicFramePr>
            <a:graphicFrameLocks noGrp="1"/>
          </p:cNvGraphicFramePr>
          <p:nvPr/>
        </p:nvGraphicFramePr>
        <p:xfrm>
          <a:off x="635000" y="2476500"/>
          <a:ext cx="10922000" cy="330199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184400">
                  <a:extLst>
                    <a:ext uri="{9D8B030D-6E8A-4147-A177-3AD203B41FA5}">
                      <a16:colId xmlns:a16="http://schemas.microsoft.com/office/drawing/2014/main" val="4183630816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2117229229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3759447197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2943536183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234497694"/>
                    </a:ext>
                  </a:extLst>
                </a:gridCol>
              </a:tblGrid>
              <a:tr h="471714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300" b="1">
                          <a:solidFill>
                            <a:srgbClr val="FEFDFB"/>
                          </a:solidFill>
                        </a:rPr>
                        <a:t>Taxon</a:t>
                      </a:r>
                    </a:p>
                  </a:txBody>
                  <a:tcPr anchor="ctr">
                    <a:solidFill>
                      <a:srgbClr val="2C39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00" b="1">
                          <a:solidFill>
                            <a:srgbClr val="FEFDFB"/>
                          </a:solidFill>
                        </a:rPr>
                        <a:t>2018 Baseline</a:t>
                      </a:r>
                    </a:p>
                  </a:txBody>
                  <a:tcPr anchor="ctr">
                    <a:solidFill>
                      <a:srgbClr val="2C39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00" b="1">
                          <a:solidFill>
                            <a:srgbClr val="FEFDFB"/>
                          </a:solidFill>
                        </a:rPr>
                        <a:t>2024</a:t>
                      </a:r>
                    </a:p>
                  </a:txBody>
                  <a:tcPr anchor="ctr">
                    <a:solidFill>
                      <a:srgbClr val="2C39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00" b="1">
                          <a:solidFill>
                            <a:srgbClr val="FEFDFB"/>
                          </a:solidFill>
                        </a:rPr>
                        <a:t>2025</a:t>
                      </a:r>
                    </a:p>
                  </a:txBody>
                  <a:tcPr anchor="ctr">
                    <a:solidFill>
                      <a:srgbClr val="2C39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00" b="1">
                          <a:solidFill>
                            <a:srgbClr val="FEFDFB"/>
                          </a:solidFill>
                        </a:rPr>
                        <a:t>Δ vs. Baseline</a:t>
                      </a:r>
                    </a:p>
                  </a:txBody>
                  <a:tcPr anchor="ctr">
                    <a:solidFill>
                      <a:srgbClr val="2C39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275845"/>
                  </a:ext>
                </a:extLst>
              </a:tr>
              <a:tr h="471714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300">
                          <a:solidFill>
                            <a:srgbClr val="2C3932"/>
                          </a:solidFill>
                        </a:rPr>
                        <a:t>Vascular plants</a:t>
                      </a:r>
                    </a:p>
                  </a:txBody>
                  <a:tcPr anchor="ctr">
                    <a:solidFill>
                      <a:srgbClr val="DCE5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00">
                          <a:solidFill>
                            <a:srgbClr val="2C3932"/>
                          </a:solidFill>
                        </a:rPr>
                        <a:t>312</a:t>
                      </a:r>
                    </a:p>
                  </a:txBody>
                  <a:tcPr anchor="ctr">
                    <a:solidFill>
                      <a:srgbClr val="DCE5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00">
                          <a:solidFill>
                            <a:srgbClr val="2C3932"/>
                          </a:solidFill>
                        </a:rPr>
                        <a:t>296</a:t>
                      </a:r>
                    </a:p>
                  </a:txBody>
                  <a:tcPr anchor="ctr">
                    <a:solidFill>
                      <a:srgbClr val="DCE5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00">
                          <a:solidFill>
                            <a:srgbClr val="2C3932"/>
                          </a:solidFill>
                        </a:rPr>
                        <a:t>304</a:t>
                      </a:r>
                    </a:p>
                  </a:txBody>
                  <a:tcPr anchor="ctr">
                    <a:solidFill>
                      <a:srgbClr val="DCE5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00" b="1">
                          <a:solidFill>
                            <a:srgbClr val="A39382"/>
                          </a:solidFill>
                        </a:rPr>
                        <a:t>−2.6%</a:t>
                      </a:r>
                    </a:p>
                  </a:txBody>
                  <a:tcPr anchor="ctr">
                    <a:solidFill>
                      <a:srgbClr val="DCE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836904"/>
                  </a:ext>
                </a:extLst>
              </a:tr>
              <a:tr h="471714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300">
                          <a:solidFill>
                            <a:srgbClr val="2C3932"/>
                          </a:solidFill>
                        </a:rPr>
                        <a:t>Birds</a:t>
                      </a:r>
                    </a:p>
                  </a:txBody>
                  <a:tcPr anchor="ctr">
                    <a:solidFill>
                      <a:srgbClr val="FEFD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00">
                          <a:solidFill>
                            <a:srgbClr val="2C3932"/>
                          </a:solidFill>
                        </a:rPr>
                        <a:t>89</a:t>
                      </a:r>
                    </a:p>
                  </a:txBody>
                  <a:tcPr anchor="ctr">
                    <a:solidFill>
                      <a:srgbClr val="FEFD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00">
                          <a:solidFill>
                            <a:srgbClr val="2C3932"/>
                          </a:solidFill>
                        </a:rPr>
                        <a:t>91</a:t>
                      </a:r>
                    </a:p>
                  </a:txBody>
                  <a:tcPr anchor="ctr">
                    <a:solidFill>
                      <a:srgbClr val="FEFD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00">
                          <a:solidFill>
                            <a:srgbClr val="2C3932"/>
                          </a:solidFill>
                        </a:rPr>
                        <a:t>93</a:t>
                      </a:r>
                    </a:p>
                  </a:txBody>
                  <a:tcPr anchor="ctr">
                    <a:solidFill>
                      <a:srgbClr val="FEFD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00" b="1">
                          <a:solidFill>
                            <a:srgbClr val="87A3BF"/>
                          </a:solidFill>
                        </a:rPr>
                        <a:t>+4.5%</a:t>
                      </a:r>
                    </a:p>
                  </a:txBody>
                  <a:tcPr anchor="ctr">
                    <a:solidFill>
                      <a:srgbClr val="FEF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2460733"/>
                  </a:ext>
                </a:extLst>
              </a:tr>
              <a:tr h="471714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300">
                          <a:solidFill>
                            <a:srgbClr val="2C3932"/>
                          </a:solidFill>
                        </a:rPr>
                        <a:t>Mammals</a:t>
                      </a:r>
                    </a:p>
                  </a:txBody>
                  <a:tcPr anchor="ctr">
                    <a:solidFill>
                      <a:srgbClr val="DCE5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00">
                          <a:solidFill>
                            <a:srgbClr val="2C3932"/>
                          </a:solidFill>
                        </a:rPr>
                        <a:t>24</a:t>
                      </a:r>
                    </a:p>
                  </a:txBody>
                  <a:tcPr anchor="ctr">
                    <a:solidFill>
                      <a:srgbClr val="DCE5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00">
                          <a:solidFill>
                            <a:srgbClr val="2C3932"/>
                          </a:solidFill>
                        </a:rPr>
                        <a:t>22</a:t>
                      </a:r>
                    </a:p>
                  </a:txBody>
                  <a:tcPr anchor="ctr">
                    <a:solidFill>
                      <a:srgbClr val="DCE5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00">
                          <a:solidFill>
                            <a:srgbClr val="2C3932"/>
                          </a:solidFill>
                        </a:rPr>
                        <a:t>23</a:t>
                      </a:r>
                    </a:p>
                  </a:txBody>
                  <a:tcPr anchor="ctr">
                    <a:solidFill>
                      <a:srgbClr val="DCE5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00" b="1">
                          <a:solidFill>
                            <a:srgbClr val="A39382"/>
                          </a:solidFill>
                        </a:rPr>
                        <a:t>−4.2%</a:t>
                      </a:r>
                    </a:p>
                  </a:txBody>
                  <a:tcPr anchor="ctr">
                    <a:solidFill>
                      <a:srgbClr val="DCE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411704"/>
                  </a:ext>
                </a:extLst>
              </a:tr>
              <a:tr h="471714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300">
                          <a:solidFill>
                            <a:srgbClr val="2C3932"/>
                          </a:solidFill>
                        </a:rPr>
                        <a:t>Amphibians</a:t>
                      </a:r>
                    </a:p>
                  </a:txBody>
                  <a:tcPr anchor="ctr">
                    <a:solidFill>
                      <a:srgbClr val="FEFD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00">
                          <a:solidFill>
                            <a:srgbClr val="2C3932"/>
                          </a:solidFill>
                        </a:rPr>
                        <a:t>11</a:t>
                      </a:r>
                    </a:p>
                  </a:txBody>
                  <a:tcPr anchor="ctr">
                    <a:solidFill>
                      <a:srgbClr val="FEFD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00">
                          <a:solidFill>
                            <a:srgbClr val="2C3932"/>
                          </a:solidFill>
                        </a:rPr>
                        <a:t>9</a:t>
                      </a:r>
                    </a:p>
                  </a:txBody>
                  <a:tcPr anchor="ctr">
                    <a:solidFill>
                      <a:srgbClr val="FEFD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00">
                          <a:solidFill>
                            <a:srgbClr val="2C3932"/>
                          </a:solidFill>
                        </a:rPr>
                        <a:t>10</a:t>
                      </a:r>
                    </a:p>
                  </a:txBody>
                  <a:tcPr anchor="ctr">
                    <a:solidFill>
                      <a:srgbClr val="FEFD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00" b="1">
                          <a:solidFill>
                            <a:srgbClr val="A39382"/>
                          </a:solidFill>
                        </a:rPr>
                        <a:t>−9.1%</a:t>
                      </a:r>
                    </a:p>
                  </a:txBody>
                  <a:tcPr anchor="ctr">
                    <a:solidFill>
                      <a:srgbClr val="FEF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1235913"/>
                  </a:ext>
                </a:extLst>
              </a:tr>
              <a:tr h="471714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300">
                          <a:solidFill>
                            <a:srgbClr val="2C3932"/>
                          </a:solidFill>
                        </a:rPr>
                        <a:t>Lichens &amp; bryophytes</a:t>
                      </a:r>
                    </a:p>
                  </a:txBody>
                  <a:tcPr anchor="ctr">
                    <a:solidFill>
                      <a:srgbClr val="DCE5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00">
                          <a:solidFill>
                            <a:srgbClr val="2C3932"/>
                          </a:solidFill>
                        </a:rPr>
                        <a:t>147</a:t>
                      </a:r>
                    </a:p>
                  </a:txBody>
                  <a:tcPr anchor="ctr">
                    <a:solidFill>
                      <a:srgbClr val="DCE5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00">
                          <a:solidFill>
                            <a:srgbClr val="2C3932"/>
                          </a:solidFill>
                        </a:rPr>
                        <a:t>158</a:t>
                      </a:r>
                    </a:p>
                  </a:txBody>
                  <a:tcPr anchor="ctr">
                    <a:solidFill>
                      <a:srgbClr val="DCE5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00">
                          <a:solidFill>
                            <a:srgbClr val="2C3932"/>
                          </a:solidFill>
                        </a:rPr>
                        <a:t>164</a:t>
                      </a:r>
                    </a:p>
                  </a:txBody>
                  <a:tcPr anchor="ctr">
                    <a:solidFill>
                      <a:srgbClr val="DCE5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00" b="1">
                          <a:solidFill>
                            <a:srgbClr val="87A3BF"/>
                          </a:solidFill>
                        </a:rPr>
                        <a:t>+11.6%</a:t>
                      </a:r>
                    </a:p>
                  </a:txBody>
                  <a:tcPr anchor="ctr">
                    <a:solidFill>
                      <a:srgbClr val="DCE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168265"/>
                  </a:ext>
                </a:extLst>
              </a:tr>
              <a:tr h="471714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300">
                          <a:solidFill>
                            <a:srgbClr val="2C3932"/>
                          </a:solidFill>
                        </a:rPr>
                        <a:t>Fungi (macro)</a:t>
                      </a:r>
                    </a:p>
                  </a:txBody>
                  <a:tcPr anchor="ctr">
                    <a:solidFill>
                      <a:srgbClr val="FEFD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00">
                          <a:solidFill>
                            <a:srgbClr val="2C3932"/>
                          </a:solidFill>
                        </a:rPr>
                        <a:t>206</a:t>
                      </a:r>
                    </a:p>
                  </a:txBody>
                  <a:tcPr anchor="ctr">
                    <a:solidFill>
                      <a:srgbClr val="FEFD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00">
                          <a:solidFill>
                            <a:srgbClr val="2C3932"/>
                          </a:solidFill>
                        </a:rPr>
                        <a:t>211</a:t>
                      </a:r>
                    </a:p>
                  </a:txBody>
                  <a:tcPr anchor="ctr">
                    <a:solidFill>
                      <a:srgbClr val="FEFD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00">
                          <a:solidFill>
                            <a:srgbClr val="2C3932"/>
                          </a:solidFill>
                        </a:rPr>
                        <a:t>219</a:t>
                      </a:r>
                    </a:p>
                  </a:txBody>
                  <a:tcPr anchor="ctr">
                    <a:solidFill>
                      <a:srgbClr val="FEFD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00" b="1">
                          <a:solidFill>
                            <a:srgbClr val="87A3BF"/>
                          </a:solidFill>
                        </a:rPr>
                        <a:t>+6.3%</a:t>
                      </a:r>
                    </a:p>
                  </a:txBody>
                  <a:tcPr anchor="ctr">
                    <a:solidFill>
                      <a:srgbClr val="FEF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088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1710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72092-1D93-1C42-71C9-4C3CD1035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MANAGED vs. OLD-GROWTH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79F98-15E6-6046-8778-50E4BCD42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STATE OF THE FOREST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74622-7DE0-8F9D-5C52-82D39E218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7</a:t>
            </a:fld>
            <a:endParaRPr lang="en-US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9389CCDE-F31E-B0CC-F7DC-1014F05EC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71B2274-2833-6B42-A952-A339A98B59B8}"/>
              </a:ext>
            </a:extLst>
          </p:cNvPr>
          <p:cNvSpPr txBox="1"/>
          <p:nvPr/>
        </p:nvSpPr>
        <p:spPr>
          <a:xfrm>
            <a:off x="635000" y="2133600"/>
            <a:ext cx="5080000" cy="18081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chemeClr val="accent2"/>
                </a:solidFill>
              </a:rPr>
              <a:t>MANAGED PARCELS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800" b="1"/>
              <a:t>28,400 ha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200"/>
              <a:t>Replanted between 1978 and 2006; species mix dominated by Douglas fir and western hemlock.</a:t>
            </a:r>
          </a:p>
          <a:p>
            <a:pPr marL="171450" indent="-171450">
              <a:spcBef>
                <a:spcPts val="400"/>
              </a:spcBef>
              <a:buFont typeface="Arial"/>
              <a:buChar char="—"/>
            </a:pPr>
            <a:r>
              <a:rPr lang="en-US" sz="1200"/>
              <a:t>Mean stem age: 34 years</a:t>
            </a:r>
          </a:p>
          <a:p>
            <a:pPr marL="171450" indent="-171450">
              <a:spcBef>
                <a:spcPts val="200"/>
              </a:spcBef>
              <a:buFont typeface="Arial"/>
              <a:buChar char="—"/>
            </a:pPr>
            <a:r>
              <a:rPr lang="en-US" sz="1200"/>
              <a:t>Understory diversity: moderate</a:t>
            </a:r>
          </a:p>
          <a:p>
            <a:pPr marL="171450" indent="-171450">
              <a:spcBef>
                <a:spcPts val="200"/>
              </a:spcBef>
              <a:buFont typeface="Arial"/>
              <a:buChar char="—"/>
            </a:pPr>
            <a:r>
              <a:rPr lang="en-US" sz="1200"/>
              <a:t>Harvest rotation: 60 years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2FAD5F8-994F-BE43-8134-F8A510743A6D}"/>
              </a:ext>
            </a:extLst>
          </p:cNvPr>
          <p:cNvSpPr txBox="1"/>
          <p:nvPr/>
        </p:nvSpPr>
        <p:spPr>
          <a:xfrm>
            <a:off x="6477000" y="2133600"/>
            <a:ext cx="5080000" cy="18081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chemeClr val="accent2"/>
                </a:solidFill>
              </a:rPr>
              <a:t>OLD-GROWTH RESERVE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800" b="1"/>
              <a:t>13,600 ha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200"/>
              <a:t>Untouched since pre-industrial baseline; mixed broadleaf-conifer with significant deadwood volume.</a:t>
            </a:r>
          </a:p>
          <a:p>
            <a:pPr marL="171450" indent="-171450">
              <a:spcBef>
                <a:spcPts val="400"/>
              </a:spcBef>
              <a:buFont typeface="Arial"/>
              <a:buChar char="—"/>
            </a:pPr>
            <a:r>
              <a:rPr lang="en-US" sz="1200"/>
              <a:t>Mean stem age: 180+ years</a:t>
            </a:r>
          </a:p>
          <a:p>
            <a:pPr marL="171450" indent="-171450">
              <a:spcBef>
                <a:spcPts val="200"/>
              </a:spcBef>
              <a:buFont typeface="Arial"/>
              <a:buChar char="—"/>
            </a:pPr>
            <a:r>
              <a:rPr lang="en-US" sz="1200"/>
              <a:t>Understory diversity: high</a:t>
            </a:r>
          </a:p>
          <a:p>
            <a:pPr marL="171450" indent="-171450">
              <a:spcBef>
                <a:spcPts val="200"/>
              </a:spcBef>
              <a:buFont typeface="Arial"/>
              <a:buChar char="—"/>
            </a:pPr>
            <a:r>
              <a:rPr lang="en-US" sz="1200"/>
              <a:t>Harvest rotation: none (reserve)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227622B-B713-8A4A-8993-FE49C3DEC56E}"/>
              </a:ext>
            </a:extLst>
          </p:cNvPr>
          <p:cNvSpPr/>
          <p:nvPr/>
        </p:nvSpPr>
        <p:spPr>
          <a:xfrm>
            <a:off x="6096000" y="2413000"/>
            <a:ext cx="12700" cy="3530600"/>
          </a:xfrm>
          <a:prstGeom prst="rect">
            <a:avLst/>
          </a:prstGeom>
          <a:solidFill>
            <a:srgbClr val="5F7A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767477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78C0A9E-8B03-E148-ACBD-A0C06F2AB961}"/>
              </a:ext>
            </a:extLst>
          </p:cNvPr>
          <p:cNvSpPr txBox="1"/>
          <p:nvPr/>
        </p:nvSpPr>
        <p:spPr>
          <a:xfrm>
            <a:off x="609600" y="635000"/>
            <a:ext cx="15240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 sz="18000" b="1">
                <a:solidFill>
                  <a:srgbClr val="DCE5D4"/>
                </a:solidFill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819718-8129-CB4A-5FDF-3999F3BE8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chemeClr val="accent2"/>
                </a:solidFill>
              </a:rPr>
              <a:t>M. RAVENWOOD</a:t>
            </a:r>
          </a:p>
          <a:p>
            <a:pPr marL="0" indent="0">
              <a:buNone/>
            </a:pPr>
            <a:r>
              <a:rPr lang="en-US" sz="1100" i="1">
                <a:solidFill>
                  <a:schemeClr val="accent2"/>
                </a:solidFill>
              </a:rPr>
              <a:t>Field lead, Eastern District · 21 years on site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34E7B-1A7B-9B83-7449-42E6B8F6F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STATE OF THE FOREST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39218-F552-50B8-BC7E-C804A2631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B4907-4194-55BC-BDE9-CCF6DAB2201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anchor="t"/>
          <a:lstStyle/>
          <a:p>
            <a:pPr marL="0" indent="0" algn="l">
              <a:buNone/>
            </a:pPr>
            <a:r>
              <a:rPr lang="en-US" sz="2400" i="1">
                <a:solidFill>
                  <a:schemeClr val="tx2"/>
                </a:solidFill>
              </a:rPr>
              <a:t>“Every transect tells the same story in a different dialect. You walk for an hour, and the forest has already told you what it needs.”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A1C6F9F-A9BD-0247-BE67-F076B314A55A}"/>
              </a:ext>
            </a:extLst>
          </p:cNvPr>
          <p:cNvSpPr/>
          <p:nvPr/>
        </p:nvSpPr>
        <p:spPr>
          <a:xfrm>
            <a:off x="635000" y="5016500"/>
            <a:ext cx="762000" cy="25400"/>
          </a:xfrm>
          <a:prstGeom prst="rect">
            <a:avLst/>
          </a:prstGeom>
          <a:solidFill>
            <a:srgbClr val="5F7A5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51393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21CBA-BF0E-B09D-1B6D-7B68C95FA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NEXT STEPS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92FE0-4319-A77C-57A1-4733ED755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STATE OF THE FOREST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E8512-F192-F148-7D3C-9D173B81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FAF19-45F3-90C6-51C9-DEA3089E4D18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100" b="1">
                <a:solidFill>
                  <a:schemeClr val="accent2"/>
                </a:solidFill>
              </a:rPr>
              <a:t>FY26 PRIORITIES</a:t>
            </a:r>
          </a:p>
          <a:p>
            <a:pPr marL="171450" indent="-171450">
              <a:spcBef>
                <a:spcPts val="400"/>
              </a:spcBef>
              <a:buFont typeface="Arial"/>
              <a:buChar char="—"/>
            </a:pPr>
            <a:r>
              <a:rPr lang="en-US" sz="1200"/>
              <a:t>Commission a revised irrigation plan for southern parcels by Q1.</a:t>
            </a:r>
          </a:p>
          <a:p>
            <a:pPr marL="171450" indent="-171450">
              <a:spcBef>
                <a:spcPts val="300"/>
              </a:spcBef>
              <a:buFont typeface="Arial"/>
              <a:buChar char="—"/>
            </a:pPr>
            <a:r>
              <a:rPr lang="en-US" sz="1200"/>
              <a:t>Expand the amphibian survey to the western wetland fringe.</a:t>
            </a:r>
          </a:p>
          <a:p>
            <a:pPr marL="171450" indent="-171450">
              <a:spcBef>
                <a:spcPts val="300"/>
              </a:spcBef>
              <a:buFont typeface="Arial"/>
              <a:buChar char="—"/>
            </a:pPr>
            <a:r>
              <a:rPr lang="en-US" sz="1200"/>
              <a:t>Publish the open dataset under CC-BY-4.0 in March.</a:t>
            </a:r>
          </a:p>
          <a:p>
            <a:pPr marL="171450" indent="-171450">
              <a:spcBef>
                <a:spcPts val="300"/>
              </a:spcBef>
              <a:buFont typeface="Arial"/>
              <a:buChar char="—"/>
            </a:pPr>
            <a:r>
              <a:rPr lang="en-US" sz="1200"/>
              <a:t>Invite peer review from the Regional Forestry Council.</a:t>
            </a:r>
          </a:p>
          <a:p>
            <a:pPr marL="0" indent="0">
              <a:spcBef>
                <a:spcPts val="800"/>
              </a:spcBef>
              <a:buNone/>
            </a:pPr>
            <a:r>
              <a:rPr lang="en-US" sz="1000" i="1">
                <a:solidFill>
                  <a:schemeClr val="accent2"/>
                </a:solidFill>
              </a:rPr>
              <a:t>Thank you.</a:t>
            </a:r>
          </a:p>
        </p:txBody>
      </p:sp>
      <p:pic>
        <p:nvPicPr>
          <p:cNvPr id="8" name="図プレースホルダー 7">
            <a:extLst>
              <a:ext uri="{FF2B5EF4-FFF2-40B4-BE49-F238E27FC236}">
                <a16:creationId xmlns:a16="http://schemas.microsoft.com/office/drawing/2014/main" id="{9508BFBE-9D67-39C8-F11E-BE87A59AE21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" b="80"/>
          <a:stretch/>
        </p:blipFill>
        <p:spPr>
          <a:prstGeom prst="rect">
            <a:avLst/>
          </a:prstGeom>
          <a:blipFill dpi="0" rotWithShape="1">
            <a:blip r:embed="rId3" cstate="screen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r="2"/>
            </a:stretch>
          </a:blipFill>
        </p:spPr>
      </p:pic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5AED1ABE-B63F-DF44-8A9F-BC65F32035AD}"/>
              </a:ext>
            </a:extLst>
          </p:cNvPr>
          <p:cNvSpPr txBox="1"/>
          <p:nvPr/>
        </p:nvSpPr>
        <p:spPr>
          <a:xfrm>
            <a:off x="635000" y="6413500"/>
            <a:ext cx="34036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ja-JP" sz="800" i="1">
                <a:solidFill>
                  <a:srgbClr val="5F7A52"/>
                </a:solidFill>
              </a:rPr>
              <a:t>Created with Claude for PowerPoint  ·  Imagery generated with Midjourney</a:t>
            </a:r>
            <a:endParaRPr lang="ja-JP" altLang="en-US" sz="800" i="1">
              <a:solidFill>
                <a:srgbClr val="5F7A5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527465"/>
      </p:ext>
    </p:extLst>
  </p:cSld>
  <p:clrMapOvr>
    <a:masterClrMapping/>
  </p:clrMapOvr>
</p:sld>
</file>

<file path=ppt/theme/theme1.xml><?xml version="1.0" encoding="utf-8"?>
<a:theme xmlns:a="http://schemas.openxmlformats.org/drawingml/2006/main" name="JapandiLinearHarmony [1776615623983]">
  <a:themeElements>
    <a:clrScheme name="Japandi Linear Harmony">
      <a:dk1>
        <a:srgbClr val="1F2E24"/>
      </a:dk1>
      <a:lt1>
        <a:srgbClr val="F0F3EC"/>
      </a:lt1>
      <a:dk2>
        <a:srgbClr val="2C3932"/>
      </a:dk2>
      <a:lt2>
        <a:srgbClr val="DCE5D4"/>
      </a:lt2>
      <a:accent1>
        <a:srgbClr val="DCE5D4"/>
      </a:accent1>
      <a:accent2>
        <a:srgbClr val="5F7A52"/>
      </a:accent2>
      <a:accent3>
        <a:srgbClr val="8FA878"/>
      </a:accent3>
      <a:accent4>
        <a:srgbClr val="3E5A3A"/>
      </a:accent4>
      <a:accent5>
        <a:srgbClr val="B8C9A8"/>
      </a:accent5>
      <a:accent6>
        <a:srgbClr val="2C3932"/>
      </a:accent6>
      <a:hlink>
        <a:srgbClr val="169C9A"/>
      </a:hlink>
      <a:folHlink>
        <a:srgbClr val="E15C3D"/>
      </a:folHlink>
    </a:clrScheme>
    <a:fontScheme name="Custom 24">
      <a:majorFont>
        <a:latin typeface="Nunito Sans"/>
        <a:ea typeface=""/>
        <a:cs typeface=""/>
      </a:majorFont>
      <a:minorFont>
        <a:latin typeface="Nuni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apandi linear_Marketing Presentation_win32_SD_V9" id="{57601A81-7059-40B9-B27D-CFA4D443B3D6}" vid="{9FBC8E92-EE9C-44F9-AA8A-E22EDCB5B7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27F775A-27A8-D047-B12D-8677F97FC499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af630774-1f00-42c3-9017-183a65b6fa5a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D3301439-688F-4D19-B908-B48B62C5607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EEC3793-C1BC-496C-A03C-202DFFC513D6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1CEDABF-7176-4A42-8EF9-E5D4DD31FF6C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477</Words>
  <Application>Microsoft Macintosh PowerPoint</Application>
  <PresentationFormat>ワイド画面</PresentationFormat>
  <Paragraphs>105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Aptos</vt:lpstr>
      <vt:lpstr>Arial</vt:lpstr>
      <vt:lpstr>Nunito Sans</vt:lpstr>
      <vt:lpstr>Univers Light</vt:lpstr>
      <vt:lpstr>JapandiLinearHarmony [1776615623983]</vt:lpstr>
      <vt:lpstr>STATE OF THE FOREST</vt:lpstr>
      <vt:lpstr>CONTENTS</vt:lpstr>
      <vt:lpstr>EXECUTIVE SUMMARY</vt:lpstr>
      <vt:lpstr>PART I Measuring the Canopy</vt:lpstr>
      <vt:lpstr>CANOPY &amp; GROWTH</vt:lpstr>
      <vt:lpstr>BIODIVERSITY SNAPSHOT</vt:lpstr>
      <vt:lpstr>MANAGED vs. OLD-GROWTH</vt:lpstr>
      <vt:lpstr>M. RAVENWOOD Field lead, Eastern District · 21 years on site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Yuki Yokotani</cp:lastModifiedBy>
  <cp:revision>4</cp:revision>
  <dcterms:created xsi:type="dcterms:W3CDTF">2026-04-17T16:08:43Z</dcterms:created>
  <dcterms:modified xsi:type="dcterms:W3CDTF">2026-04-19T16:20:36Z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
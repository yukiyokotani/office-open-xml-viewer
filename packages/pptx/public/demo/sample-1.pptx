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800" b="0" i="0" u="none" strike="noStrike">
                <a:solidFill>
                  <a:srgbClr val="000000"/>
                </a:solidFill>
                <a:latin typeface="Arial"/>
              </a:rPr>
              <a:t>Illustrative budget trend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700</c:v>
                </c:pt>
                <c:pt idx="1">
                  <c:v>725</c:v>
                </c:pt>
                <c:pt idx="2">
                  <c:v>750</c:v>
                </c:pt>
                <c:pt idx="3">
                  <c:v>775</c:v>
                </c:pt>
                <c:pt idx="4">
                  <c:v>800</c:v>
                </c:pt>
                <c:pt idx="5">
                  <c:v>825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</c:v>
                </c:pt>
              </c:strCache>
            </c:strRef>
          </c:tx>
          <c:spPr>
            <a:solidFill>
              <a:srgbClr val="9BBB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274</c:v>
                </c:pt>
                <c:pt idx="1">
                  <c:v>285</c:v>
                </c:pt>
                <c:pt idx="2">
                  <c:v>297</c:v>
                </c:pt>
                <c:pt idx="3">
                  <c:v>308</c:v>
                </c:pt>
                <c:pt idx="4">
                  <c:v>320</c:v>
                </c:pt>
                <c:pt idx="5">
                  <c:v>331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F4E78"/>
          </a:solidFill>
          <a:ln w="12700">
            <a:solidFill>
              <a:srgbClr val="1F4E7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19088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7A7A"/>
                </a:solidFill>
              </a:rPr>
              <a:t>Office Viewer Test Sample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B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Office Viewer Test Sample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A multi-slide PowerPoint deck with tables, charts, images, shapes, and layout patterns for rendering tests.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4871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8"/>
                </a:solidFill>
              </a:rPr>
              <a:t>Included files: DOCX · XLSX · PPTX</a:t>
            </a:r>
            <a:endParaRPr lang="en-US" sz="1300" dirty="0"/>
          </a:p>
        </p:txBody>
      </p:sp>
      <p:pic>
        <p:nvPicPr>
          <p:cNvPr id="5" name="Image 0" descr="/mnt/data/a_digital_image_displays_three_file_icons_with_the_batch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1226820"/>
            <a:ext cx="5166360" cy="3444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" y="2944368"/>
            <a:ext cx="4617720" cy="0"/>
          </a:xfrm>
          <a:prstGeom prst="line">
            <a:avLst/>
          </a:prstGeom>
          <a:noFill/>
          <a:ln w="12700">
            <a:solidFill>
              <a:srgbClr val="A7BFD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3127248"/>
            <a:ext cx="4754880" cy="1874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Multiple slides with consistent header and footer treatment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Text hierarchy, bullets, tables, charts, and image placement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Useful as regression data for web-based presentation rendering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8368" y="56235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77777"/>
                </a:solidFill>
              </a:rPr>
              <a:t>Sample deck prepared for viewer QA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9377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Coverage map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The sample deck intentionally exercises representative PowerPoint constructs.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8"/>
                </a:solidFill>
              </a:rPr>
              <a:t>Core elements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3063240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Title and body text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Bullets and nested structure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Tables and native charts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Images and captions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4160520" y="1325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8"/>
                </a:solidFill>
              </a:rPr>
              <a:t>Interaction-oriented areas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78808" y="1627632"/>
            <a:ext cx="3291840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Slide-to-slide navigation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Shape rendering and arrows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Text wrapping and alignment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Image scaling / cropping behavior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818120" y="1325880"/>
            <a:ext cx="3611880" cy="310896"/>
          </a:xfrm>
          <a:prstGeom prst="rect">
            <a:avLst/>
          </a:prstGeom>
          <a:solidFill>
            <a:srgbClr val="D9EAF7"/>
          </a:solidFill>
          <a:ln w="12700">
            <a:solidFill>
              <a:srgbClr val="D9EA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46136" y="1353312"/>
            <a:ext cx="3355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8"/>
                </a:solidFill>
              </a:rPr>
              <a:t>Feature groups included in the deck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810512"/>
            <a:ext cx="3310128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38160" y="1883664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64"/>
                </a:solidFill>
              </a:rPr>
              <a:t>Text layout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56448" y="208483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555"/>
                </a:solidFill>
              </a:rPr>
              <a:t>Heading hierarchy, bullets, quote-style callouts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55280" y="2578608"/>
            <a:ext cx="3310128" cy="676656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5E0EC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38160" y="265176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64"/>
                </a:solidFill>
              </a:rPr>
              <a:t>Tabular data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56448" y="285292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555"/>
                </a:solidFill>
              </a:rPr>
              <a:t>Comparison grid with mixed column widths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955280" y="3346704"/>
            <a:ext cx="3310128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138160" y="341985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64"/>
                </a:solidFill>
              </a:rPr>
              <a:t>Charts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56448" y="362102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555"/>
                </a:solidFill>
              </a:rPr>
              <a:t>Column chart with legend and axis labels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55280" y="4114800"/>
            <a:ext cx="3310128" cy="676656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5E0EC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38160" y="41879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64"/>
                </a:solidFill>
              </a:rPr>
              <a:t>Shapes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56448" y="438912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555"/>
                </a:solidFill>
              </a:rPr>
              <a:t>Process flow with connectors behind nodes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955280" y="4882896"/>
            <a:ext cx="3310128" cy="6766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0EC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38160" y="495604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3B64"/>
                </a:solidFill>
              </a:rPr>
              <a:t>Media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156448" y="5157216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555"/>
                </a:solidFill>
              </a:rPr>
              <a:t>Embedded raster images and captions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9377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Representative text and layout patterns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Useful for testing text rendering, wrapping, and alignment fidelity.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58368" y="1298448"/>
            <a:ext cx="4251960" cy="310896"/>
          </a:xfrm>
          <a:prstGeom prst="rect">
            <a:avLst/>
          </a:prstGeom>
          <a:solidFill>
            <a:srgbClr val="D9EAF7"/>
          </a:solidFill>
          <a:ln w="12700">
            <a:solidFill>
              <a:srgbClr val="D9EA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325880"/>
            <a:ext cx="3995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8"/>
                </a:solidFill>
              </a:rPr>
              <a:t>Examples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627632"/>
            <a:ext cx="4572000" cy="28803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1F1F"/>
                </a:solidFill>
              </a:rPr>
              <a:t>Bold, italic, underline, color, and highlight combinations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1F1F"/>
                </a:solidFill>
              </a:rPr>
              <a:t>Bullet and numbered lists with nested indentation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1F1F"/>
                </a:solidFill>
              </a:rPr>
              <a:t>Quote-style content blocks and code-like single-line samples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F1F1F"/>
                </a:solidFill>
              </a:rPr>
              <a:t>Headers, footers, and page numbering on the companion DOCX file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806440" y="1417320"/>
            <a:ext cx="56235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08192" y="175564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3F3F3F"/>
                </a:solidFill>
              </a:rPr>
              <a:t>“A good document viewer must preserve structure, not just plain text.”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806440" y="2761488"/>
            <a:ext cx="2560320" cy="182880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C8D9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16752" y="292608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8"/>
                </a:solidFill>
              </a:rPr>
              <a:t>Bulleted sample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80176" y="3154680"/>
            <a:ext cx="2011680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Top-level item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Second item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</a:rPr>
              <a:t>Nested sub-item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41080" y="2761488"/>
            <a:ext cx="2788920" cy="1828800"/>
          </a:xfrm>
          <a:prstGeom prst="roundRect">
            <a:avLst/>
          </a:prstGeom>
          <a:solidFill>
            <a:srgbClr val="FFFDF5"/>
          </a:solidFill>
          <a:ln w="12700">
            <a:solidFill>
              <a:srgbClr val="E6D9A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51392" y="29260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D"/>
                </a:solidFill>
              </a:rPr>
              <a:t>Inline styling sample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0" y="33649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bold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italic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uFill>
                  <a:solidFill>
                    <a:srgbClr val="1F4E78"/>
                  </a:solidFill>
                </a:uFill>
              </a:rPr>
              <a:t>  underlined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37033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highlight>
                  <a:srgbClr val="FFFF00"/>
                </a:highlight>
              </a:rPr>
              <a:t>highlighted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69680" y="4069080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render(file) → paginate() → layout() → paint()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9377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Tables, charts, and embedded media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A mix of native PowerPoint objects and raster images helps verify viewer coverage.</a:t>
            </a:r>
            <a:endParaRPr lang="en-US" sz="1150" dirty="0"/>
          </a:p>
        </p:txBody>
      </p:sp>
      <p:pic>
        <p:nvPicPr>
          <p:cNvPr id="4" name="Image 0" descr="/mnt/data/office_test_samples/assets/qa_tren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53068"/>
            <a:ext cx="5166360" cy="2546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487168" y="446227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Chart image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263640" y="148132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8"/>
                </a:solidFill>
              </a:rPr>
              <a:t>What to validate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263640" y="1755648"/>
            <a:ext cx="4572000" cy="1874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Image scaling without distortion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Preservation of axis labels and small text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Consistent spacing between title, visual, and caption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1F1F1F"/>
                </a:solidFill>
              </a:rPr>
              <a:t>Correct clipping behavior when the image box changes size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6263640" y="3931920"/>
            <a:ext cx="4572000" cy="310896"/>
          </a:xfrm>
          <a:prstGeom prst="rect">
            <a:avLst/>
          </a:prstGeom>
          <a:solidFill>
            <a:srgbClr val="D9EAF7"/>
          </a:solidFill>
          <a:ln w="12700">
            <a:solidFill>
              <a:srgbClr val="D9EAF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91656" y="3959352"/>
            <a:ext cx="4315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8"/>
                </a:solidFill>
              </a:rPr>
              <a:t>Companion file mapping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63640" y="4279392"/>
            <a:ext cx="868680" cy="347472"/>
          </a:xfrm>
          <a:prstGeom prst="rect">
            <a:avLst/>
          </a:prstGeom>
          <a:solidFill>
            <a:srgbClr val="1F4E78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0936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File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132320" y="4279392"/>
            <a:ext cx="3703320" cy="347472"/>
          </a:xfrm>
          <a:prstGeom prst="rect">
            <a:avLst/>
          </a:prstGeom>
          <a:solidFill>
            <a:srgbClr val="1F4E78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78040" y="4315968"/>
            <a:ext cx="3611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Typical media / data objects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63640" y="4626864"/>
            <a:ext cx="868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09360" y="4663440"/>
            <a:ext cx="7772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DOCX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132320" y="4626864"/>
            <a:ext cx="3703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78040" y="4663440"/>
            <a:ext cx="3611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Embedded raster image + chart image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63640" y="5065776"/>
            <a:ext cx="868680" cy="438912"/>
          </a:xfrm>
          <a:prstGeom prst="rect">
            <a:avLst/>
          </a:prstGeom>
          <a:solidFill>
            <a:srgbClr val="F8FB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09360" y="5102352"/>
            <a:ext cx="7772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XLSX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132320" y="5065776"/>
            <a:ext cx="3703320" cy="438912"/>
          </a:xfrm>
          <a:prstGeom prst="rect">
            <a:avLst/>
          </a:prstGeom>
          <a:solidFill>
            <a:srgbClr val="F8FB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78040" y="5102352"/>
            <a:ext cx="3611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Native workbook charts + image anchored to cell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63640" y="5504688"/>
            <a:ext cx="868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09360" y="5541264"/>
            <a:ext cx="77724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PPTX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132320" y="5504688"/>
            <a:ext cx="37033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78040" y="5541264"/>
            <a:ext cx="3611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Native charts, table, and process diagram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9377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Spreadsheet behaviors represented in the sample XLSX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The workbook includes formulas, validation lists, conditional formatting, charts, and hyperlinks.</a:t>
            </a:r>
            <a:endParaRPr lang="en-US" sz="11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13232" y="1463040"/>
          <a:ext cx="5577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583680" y="1508760"/>
            <a:ext cx="4617720" cy="310896"/>
          </a:xfrm>
          <a:prstGeom prst="rect">
            <a:avLst/>
          </a:prstGeom>
          <a:solidFill>
            <a:srgbClr val="D9EAF7"/>
          </a:solidFill>
          <a:ln w="12700">
            <a:solidFill>
              <a:srgbClr val="D9EAF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11696" y="1536192"/>
            <a:ext cx="4361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8"/>
                </a:solidFill>
              </a:rPr>
              <a:t>Workbook features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0" y="1828800"/>
            <a:ext cx="4617720" cy="2743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Overview sheet with internal hyperlinks to other sheets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Structured sales table with filters and freeze panes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Budget sheet with a scenario dropdown and conditional formatting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Dashboard with native charts and an anchored image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Hidden lookup sheet for validation lists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20840" y="4800600"/>
            <a:ext cx="4434840" cy="713232"/>
          </a:xfrm>
          <a:prstGeom prst="roundRect">
            <a:avLst/>
          </a:prstGeom>
          <a:solidFill>
            <a:srgbClr val="FFF7DB"/>
          </a:solidFill>
          <a:ln w="12700">
            <a:solidFill>
              <a:srgbClr val="E3C76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31152" y="499262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5600"/>
                </a:solidFill>
              </a:rPr>
              <a:t>Viewer checks: comments, cell formats, merged ranges, formula display, and hidden-sheet handling.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9377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Comparison table for coverage review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A grid layout is included to test fills, borders, and mixed widths.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49808" y="1600200"/>
            <a:ext cx="1234440" cy="384048"/>
          </a:xfrm>
          <a:prstGeom prst="rect">
            <a:avLst/>
          </a:prstGeom>
          <a:solidFill>
            <a:srgbClr val="1F4E78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636776"/>
            <a:ext cx="11430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Artifact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984248" y="1600200"/>
            <a:ext cx="1828800" cy="384048"/>
          </a:xfrm>
          <a:prstGeom prst="rect">
            <a:avLst/>
          </a:prstGeom>
          <a:solidFill>
            <a:srgbClr val="1F4E78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9968" y="1636776"/>
            <a:ext cx="17373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Pages / sheets / slides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813048" y="1600200"/>
            <a:ext cx="7315200" cy="384048"/>
          </a:xfrm>
          <a:prstGeom prst="rect">
            <a:avLst/>
          </a:prstGeom>
          <a:solidFill>
            <a:srgbClr val="1F4E78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58768" y="1636776"/>
            <a:ext cx="722376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Representative features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9808" y="1984248"/>
            <a:ext cx="12344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020824"/>
            <a:ext cx="11430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DOCX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984248" y="1984248"/>
            <a:ext cx="18288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29968" y="2020824"/>
            <a:ext cx="17373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4 pages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13048" y="1984248"/>
            <a:ext cx="7315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58768" y="2020824"/>
            <a:ext cx="72237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Headers/footers, rich text, lists, tables, images, hyperlink, page number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9808" y="2496312"/>
            <a:ext cx="1234440" cy="512064"/>
          </a:xfrm>
          <a:prstGeom prst="rect">
            <a:avLst/>
          </a:prstGeom>
          <a:solidFill>
            <a:srgbClr val="F8FB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532888"/>
            <a:ext cx="11430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XLSX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984248" y="2496312"/>
            <a:ext cx="1828800" cy="512064"/>
          </a:xfrm>
          <a:prstGeom prst="rect">
            <a:avLst/>
          </a:prstGeom>
          <a:solidFill>
            <a:srgbClr val="F8FB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29968" y="2532888"/>
            <a:ext cx="17373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6 sheets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13048" y="2496312"/>
            <a:ext cx="7315200" cy="512064"/>
          </a:xfrm>
          <a:prstGeom prst="rect">
            <a:avLst/>
          </a:prstGeom>
          <a:solidFill>
            <a:srgbClr val="F8FB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2532888"/>
            <a:ext cx="72237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Tables, formulas, charts, comments, validation, hidden lookup sheet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9808" y="3008376"/>
            <a:ext cx="12344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3044952"/>
            <a:ext cx="114300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PPTX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984248" y="3008376"/>
            <a:ext cx="18288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29968" y="3044952"/>
            <a:ext cx="17373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8 slides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13048" y="3008376"/>
            <a:ext cx="7315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58768" y="3044952"/>
            <a:ext cx="722376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Text layouts, native chart, process flow, table, images, captions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86384" y="4069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78"/>
                </a:solidFill>
              </a:rPr>
              <a:t>Suggested viewer smoke tests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86384" y="4343400"/>
            <a:ext cx="4983480" cy="1645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Open each file and verify page / sheet / slide counts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Confirm hyperlinks and internal navigation render visibly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Zoom in on small table text and chart labels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Resize the viewport and check text reflow / clipping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355080" y="4224528"/>
            <a:ext cx="4754880" cy="1463040"/>
          </a:xfrm>
          <a:prstGeom prst="roundRect">
            <a:avLst/>
          </a:prstGeom>
          <a:solidFill>
            <a:srgbClr val="F8FBFF"/>
          </a:solidFill>
          <a:ln w="12700">
            <a:solidFill>
              <a:srgbClr val="D0E0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4165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8"/>
                </a:solidFill>
              </a:rPr>
              <a:t>Tip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565392" y="4617720"/>
            <a:ext cx="4160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</a:rPr>
              <a:t>Because the three sample files share a common theme, mismatches in fonts, spacing, or image handling become easier to spot during regression testing.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9377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Interaction flow to validate in the viewer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Connectors are placed behind nodes to verify arrow rendering and layering.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487168" y="2788920"/>
            <a:ext cx="548640" cy="0"/>
          </a:xfrm>
          <a:prstGeom prst="line">
            <a:avLst/>
          </a:prstGeom>
          <a:noFill/>
          <a:ln w="12700">
            <a:solidFill>
              <a:srgbClr val="AFC3D7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093208" y="2788920"/>
            <a:ext cx="548640" cy="0"/>
          </a:xfrm>
          <a:prstGeom prst="line">
            <a:avLst/>
          </a:prstGeom>
          <a:noFill/>
          <a:ln w="12700">
            <a:solidFill>
              <a:srgbClr val="AFC3D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699248" y="2788920"/>
            <a:ext cx="548640" cy="0"/>
          </a:xfrm>
          <a:prstGeom prst="line">
            <a:avLst/>
          </a:prstGeom>
          <a:noFill/>
          <a:ln w="12700">
            <a:solidFill>
              <a:srgbClr val="AFC3D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58368" y="1920240"/>
            <a:ext cx="18288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8E6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" y="21762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64"/>
                </a:solidFill>
              </a:rPr>
              <a:t>Open file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8096" y="252374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5555"/>
                </a:solidFill>
              </a:rPr>
              <a:t>Load DOCX / XLSX / PPTX and show initial view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64408" y="1920240"/>
            <a:ext cx="18288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8E6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92424" y="21762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64"/>
                </a:solidFill>
              </a:rPr>
              <a:t>Navigate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74136" y="252374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5555"/>
                </a:solidFill>
              </a:rPr>
              <a:t>Move across pages, sheets, and slides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870448" y="1920240"/>
            <a:ext cx="18288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8E6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98464" y="21762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64"/>
                </a:solidFill>
              </a:rPr>
              <a:t>Inspect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80176" y="252374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5555"/>
                </a:solidFill>
              </a:rPr>
              <a:t>Zoom, pan, search, and compare layout details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476488" y="1920240"/>
            <a:ext cx="182880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8E6"/>
            </a:solidFill>
            <a:prstDash val="solid"/>
          </a:ln>
          <a:effectLst>
            <a:outerShdw sx="100000" sy="100000" kx="0" ky="0" algn="bl" rotWithShape="0" blurRad="12700" dist="635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04504" y="21762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B64"/>
                </a:solidFill>
              </a:rPr>
              <a:t>Interact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586216" y="2523744"/>
            <a:ext cx="16093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55555"/>
                </a:solidFill>
              </a:rPr>
              <a:t>Use links, comments, and metadata panels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49808" y="4389120"/>
            <a:ext cx="10469880" cy="310896"/>
          </a:xfrm>
          <a:prstGeom prst="rect">
            <a:avLst/>
          </a:prstGeom>
          <a:solidFill>
            <a:srgbClr val="D9EAF7"/>
          </a:solidFill>
          <a:ln w="12700">
            <a:solidFill>
              <a:srgbClr val="D9EA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4416552"/>
            <a:ext cx="10213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8"/>
                </a:solidFill>
              </a:rPr>
              <a:t>Example assertions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04672" y="4754880"/>
            <a:ext cx="10058400" cy="9601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Counts match: 4 pages in DOCX, 6 sheets in XLSX, 8 slides in PPTX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Text remains selectable and aligned after zoom changes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Charts and images scale cleanly without unexpected clipping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1F1F"/>
                </a:solidFill>
              </a:rPr>
              <a:t>Hyperlinks and comments are discoverable when present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93776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B6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File set included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Use the three artifacts together as a compact smoke-test pack.</a:t>
            </a:r>
            <a:endParaRPr lang="en-US" sz="1150" dirty="0"/>
          </a:p>
        </p:txBody>
      </p:sp>
      <p:pic>
        <p:nvPicPr>
          <p:cNvPr id="4" name="Image 0" descr="/mnt/data/a_set_of_three_sample_microsoft_office_files_is_di_batch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59408"/>
            <a:ext cx="5989320" cy="3992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67728" y="1389888"/>
            <a:ext cx="4023360" cy="310896"/>
          </a:xfrm>
          <a:prstGeom prst="rect">
            <a:avLst/>
          </a:prstGeom>
          <a:solidFill>
            <a:srgbClr val="D9EAF7"/>
          </a:solidFill>
          <a:ln w="12700">
            <a:solidFill>
              <a:srgbClr val="D9EAF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095744" y="1417320"/>
            <a:ext cx="3767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8"/>
                </a:solidFill>
              </a:rPr>
              <a:t>Manifest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086600" y="17830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64"/>
                </a:solidFill>
              </a:rPr>
              <a:t>office_sample_word.docx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086600" y="202996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</a:rPr>
              <a:t>4 pages · rich text, lists, tables, images, headers/footers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086600" y="257860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64"/>
                </a:solidFill>
              </a:rPr>
              <a:t>office_sample_excel.xlsx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086600" y="282549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</a:rPr>
              <a:t>6 sheets · formulas, charts, validation, comments, conditional formatting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086600" y="3374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B64"/>
                </a:solidFill>
              </a:rPr>
              <a:t>office_sample_powerpoint.pptx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086600" y="3621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5"/>
                </a:solidFill>
              </a:rPr>
              <a:t>8 slides · native chart, process flow, grid table, images, and captions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022592" y="4480560"/>
            <a:ext cx="3840480" cy="868680"/>
          </a:xfrm>
          <a:prstGeom prst="roundRect">
            <a:avLst/>
          </a:prstGeom>
          <a:solidFill>
            <a:srgbClr val="F2F7FB"/>
          </a:solidFill>
          <a:ln w="12700">
            <a:solidFill>
              <a:srgbClr val="D5E1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96912" y="4754880"/>
            <a:ext cx="3310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4A4A4A"/>
                </a:solidFill>
              </a:rPr>
              <a:t>These samples are synthetic and safe to reuse for automated regression suites.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Viewer Test Sample — PowerPoint</dc:title>
  <dc:subject>Office Viewer Test Sample</dc:subject>
  <dc:creator>OpenAI</dc:creator>
  <cp:lastModifiedBy>OpenAI</cp:lastModifiedBy>
  <cp:revision>1</cp:revision>
  <dcterms:created xsi:type="dcterms:W3CDTF">2026-04-19T03:29:30Z</dcterms:created>
  <dcterms:modified xsi:type="dcterms:W3CDTF">2026-04-19T03:29:30Z</dcterms:modified>
</cp:coreProperties>
</file>
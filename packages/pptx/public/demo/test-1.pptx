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officeDocument/2006/relationships/extended-properties" Target="/docProps/app.xml" Id="rId1"/><Relationship Type="http://schemas.openxmlformats.org/officeDocument/2006/relationships/officeDocument" Target="/ppt/presentation.xml" Id="rId2"/><Relationship Type="http://schemas.openxmlformats.org/package/2006/relationships/metadata/core-properties" Target="/docProps/core.xml" Id="rId3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14"/>
  </p:sldMasterIdLst>
  <p:notesMasterIdLst>
    <p:notesMasterId xmlns:r="http://schemas.openxmlformats.org/officeDocument/2006/relationships" r:id="rId1"/>
  </p:notesMasterIdLst>
  <p:sldIdLst>
    <p:sldId xmlns:r="http://schemas.openxmlformats.org/officeDocument/2006/relationships" id="256" r:id="rId3"/>
    <p:sldId xmlns:r="http://schemas.openxmlformats.org/officeDocument/2006/relationships" id="257" r:id="rId6"/>
    <p:sldId xmlns:r="http://schemas.openxmlformats.org/officeDocument/2006/relationships" id="258" r:id="rId7"/>
    <p:sldId xmlns:r="http://schemas.openxmlformats.org/officeDocument/2006/relationships" id="259" r:id="rId8"/>
    <p:sldId xmlns:r="http://schemas.openxmlformats.org/officeDocument/2006/relationships" id="260" r:id="rId9"/>
    <p:sldId xmlns:r="http://schemas.openxmlformats.org/officeDocument/2006/relationships" id="261" r:id="rId10"/>
    <p:sldId xmlns:r="http://schemas.openxmlformats.org/officeDocument/2006/relationships" id="262" r:id="rId11"/>
    <p:sldId xmlns:r="http://schemas.openxmlformats.org/officeDocument/2006/relationships" id="263" r:id="rId12"/>
    <p:sldId xmlns:r="http://schemas.openxmlformats.org/officeDocument/2006/relationships" id="264" r:id="rId13"/>
    <p:sldId xmlns:r="http://schemas.openxmlformats.org/officeDocument/2006/relationships" id="265" r:id="rId4"/>
    <p:sldId xmlns:r="http://schemas.openxmlformats.org/officeDocument/2006/relationships" id="266" r:id="rId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00000000-0000-4000-8000-000000000001}">
      <p14:discardImageEditData val="0"/>
    </p:ext>
    <p:ext xmlns:p14="http://schemas.microsoft.com/office/powerpoint/2010/main" uri="{00000000-0000-4000-8000-000000000002}">
      <p14:defaultImageDpi val="32767"/>
    </p:ext>
    <p:ext xmlns:p15="http://schemas.microsoft.com/office/powerpoint/2012/main" uri="{00000000-0000-4000-8000-000000000003}">
      <p15:chartTrackingRefBased val="1"/>
    </p:ext>
  </p:extLst>
</p:presentationPr>
</file>

<file path=ppt/tableStyles.xml><?xml version="1.0" encoding="utf-8"?>
<a:tblStyleLst xmlns:a="http://schemas.openxmlformats.org/drawingml/2006/main" def="{00000000-0000-4000-8000-000000000069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notesMaster" Target="/ppt/notesMasters/notesMaster1.xml" Id="rId1"/><Relationship Type="http://schemas.openxmlformats.org/officeDocument/2006/relationships/presProps" Target="/ppt/presProps.xml" Id="rId2"/><Relationship Type="http://schemas.openxmlformats.org/officeDocument/2006/relationships/slide" Target="/ppt/slides/slide1.xml" Id="rId3"/><Relationship Type="http://schemas.openxmlformats.org/officeDocument/2006/relationships/slide" Target="/ppt/slides/slide10.xml" Id="rId4"/><Relationship Type="http://schemas.openxmlformats.org/officeDocument/2006/relationships/slide" Target="/ppt/slides/slide11.xml" Id="rId5"/><Relationship Type="http://schemas.openxmlformats.org/officeDocument/2006/relationships/slide" Target="/ppt/slides/slide2.xml" Id="rId6"/><Relationship Type="http://schemas.openxmlformats.org/officeDocument/2006/relationships/slide" Target="/ppt/slides/slide3.xml" Id="rId7"/><Relationship Type="http://schemas.openxmlformats.org/officeDocument/2006/relationships/slide" Target="/ppt/slides/slide4.xml" Id="rId8"/><Relationship Type="http://schemas.openxmlformats.org/officeDocument/2006/relationships/slide" Target="/ppt/slides/slide5.xml" Id="rId9"/><Relationship Type="http://schemas.openxmlformats.org/officeDocument/2006/relationships/slide" Target="/ppt/slides/slide6.xml" Id="rId10"/><Relationship Type="http://schemas.openxmlformats.org/officeDocument/2006/relationships/slide" Target="/ppt/slides/slide7.xml" Id="rId11"/><Relationship Type="http://schemas.openxmlformats.org/officeDocument/2006/relationships/slide" Target="/ppt/slides/slide8.xml" Id="rId12"/><Relationship Type="http://schemas.openxmlformats.org/officeDocument/2006/relationships/slide" Target="/ppt/slides/slide9.xml" Id="rId13"/><Relationship Type="http://schemas.openxmlformats.org/officeDocument/2006/relationships/slideMaster" Target="/ppt/slideMasters/slideMaster1.xml" Id="rId14"/><Relationship Type="http://schemas.openxmlformats.org/officeDocument/2006/relationships/tableStyles" Target="/ppt/tableStyles.xml" Id="rId15"/><Relationship Type="http://schemas.openxmlformats.org/officeDocument/2006/relationships/theme" Target="/ppt/theme/theme1.xml" Id="rId16"/></Relationships>
</file>

<file path=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ppt/notesMasters/theme/theme3.xml" Id="rId1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Type="http://schemas.openxmlformats.org/officeDocument/2006/relationships/notesMaster" Target="/ppt/notesMasters/notesMaster1.xml" Id="rId1"/><Relationship Type="http://schemas.openxmlformats.org/officeDocument/2006/relationships/slide" Target="/ppt/slides/slide1.xml" Id="rId2"/></Relationships>
</file>

<file path=ppt/notesSlides/_rels/notesSlide2.xml.rels><?xml version='1.0' encoding='UTF-8' standalone='yes'?>
<Relationships xmlns="http://schemas.openxmlformats.org/package/2006/relationships"><Relationship Type="http://schemas.openxmlformats.org/officeDocument/2006/relationships/notesMaster" Target="/ppt/notesMasters/notesMaster1.xml" Id="rId1"/><Relationship Type="http://schemas.openxmlformats.org/officeDocument/2006/relationships/slide" Target="/ppt/slides/slide2.xml" Id="rId2"/></Relationships>
</file>

<file path=ppt/notesSlides/_rels/notesSlide3.xml.rels><?xml version='1.0' encoding='UTF-8' standalone='yes'?>
<Relationships xmlns="http://schemas.openxmlformats.org/package/2006/relationships"><Relationship Type="http://schemas.openxmlformats.org/officeDocument/2006/relationships/notesMaster" Target="/ppt/notesMasters/notesMaster1.xml" Id="rId1"/><Relationship Type="http://schemas.openxmlformats.org/officeDocument/2006/relationships/slide" Target="/ppt/slides/slide3.xml" Id="rId2"/></Relationships>
</file>

<file path=ppt/notesSlides/_rels/notesSlide4.xml.rels><?xml version='1.0' encoding='UTF-8' standalone='yes'?>
<Relationships xmlns="http://schemas.openxmlformats.org/package/2006/relationships"><Relationship Type="http://schemas.openxmlformats.org/officeDocument/2006/relationships/notesMaster" Target="/ppt/notesMasters/notesMaster1.xml" Id="rId1"/><Relationship Type="http://schemas.openxmlformats.org/officeDocument/2006/relationships/slide" Target="/ppt/slides/slide4.xml" Id="rId2"/></Relationships>
</file>

<file path=ppt/notesSlides/_rels/notesSlide5.xml.rels><?xml version='1.0' encoding='UTF-8' standalone='yes'?>
<Relationships xmlns="http://schemas.openxmlformats.org/package/2006/relationships"><Relationship Type="http://schemas.openxmlformats.org/officeDocument/2006/relationships/notesMaster" Target="/ppt/notesMasters/notesMaster1.xml" Id="rId1"/><Relationship Type="http://schemas.openxmlformats.org/officeDocument/2006/relationships/slide" Target="/ppt/slides/slide5.xml" Id="rId2"/></Relationships>
</file>

<file path=ppt/notesSlides/_rels/notesSlide6.xml.rels><?xml version='1.0' encoding='UTF-8' standalone='yes'?>
<Relationships xmlns="http://schemas.openxmlformats.org/package/2006/relationships"><Relationship Type="http://schemas.openxmlformats.org/officeDocument/2006/relationships/notesMaster" Target="/ppt/notesMasters/notesMaster1.xml" Id="rId1"/><Relationship Type="http://schemas.openxmlformats.org/officeDocument/2006/relationships/slide" Target="/ppt/slides/slide6.xml" Id="rId2"/></Relationships>
</file>

<file path=ppt/notesSlides/_rels/notesSlide7.xml.rels><?xml version='1.0' encoding='UTF-8' standalone='yes'?>
<Relationships xmlns="http://schemas.openxmlformats.org/package/2006/relationships"><Relationship Type="http://schemas.openxmlformats.org/officeDocument/2006/relationships/notesMaster" Target="/ppt/notesMasters/notesMaster1.xml" Id="rId1"/><Relationship Type="http://schemas.openxmlformats.org/officeDocument/2006/relationships/slide" Target="/ppt/slides/slide7.xml" Id="rId2"/></Relationships>
</file>

<file path=ppt/notesSlides/_rels/notesSlide8.xml.rels><?xml version='1.0' encoding='UTF-8' standalone='yes'?>
<Relationships xmlns="http://schemas.openxmlformats.org/package/2006/relationships"><Relationship Type="http://schemas.openxmlformats.org/officeDocument/2006/relationships/notesMaster" Target="/ppt/notesMasters/notesMaster1.xml" Id="rId1"/><Relationship Type="http://schemas.openxmlformats.org/officeDocument/2006/relationships/slide" Target="/ppt/slides/slide8.xml" Id="rId2"/></Relationships>
</file>

<file path=ppt/notesSlides/_rels/notesSlide9.xml.rels><?xml version='1.0' encoding='UTF-8' standalone='yes'?>
<Relationships xmlns="http://schemas.openxmlformats.org/package/2006/relationships"><Relationship Type="http://schemas.openxmlformats.org/officeDocument/2006/relationships/notesMaster" Target="/ppt/notesMasters/notesMaster1.xml" Id="rId1"/><Relationship Type="http://schemas.openxmlformats.org/officeDocument/2006/relationships/slide" Target="/ppt/slides/slide9.xml" Id="rId2"/></Relationships>
</file>

<file path=ppt/notesSlides/_rels/notesSlide10.xml.rels><?xml version='1.0' encoding='UTF-8' standalone='yes'?>
<Relationships xmlns="http://schemas.openxmlformats.org/package/2006/relationships"><Relationship Type="http://schemas.openxmlformats.org/officeDocument/2006/relationships/notesMaster" Target="/ppt/notesMasters/notesMaster1.xml" Id="rId1"/><Relationship Type="http://schemas.openxmlformats.org/officeDocument/2006/relationships/slide" Target="/ppt/slides/slide10.xml" Id="rId2"/></Relationships>
</file>

<file path=ppt/notesSlides/_rels/notesSlide11.xml.rels><?xml version='1.0' encoding='UTF-8' standalone='yes'?>
<Relationships xmlns="http://schemas.openxmlformats.org/package/2006/relationships"><Relationship Type="http://schemas.openxmlformats.org/officeDocument/2006/relationships/notesMaster" Target="/ppt/notesMasters/notesMaster1.xml" Id="rId1"/><Relationship Type="http://schemas.openxmlformats.org/officeDocument/2006/relationships/slide" Target="/ppt/slides/slide11.xml" Id="rId2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P-BASE-001: custom slide size, embedded image, text hierarchy, and deterministic chrome.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Visible text is audience-facing. The notes carry only stable case intent.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OOXML postprocessor sets bodyPr@vert, pPr@rtl, bodyPr@rtlCol, and bodyPr@numCol.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Connectors are explicitly sent behind entity shapes to make z-order testable.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Pattern and gradient fills are cases, not decorative theme elements.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four images use the same embedded bytes; only crop, fit, mask, and transform differ.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table uses explicit pixel widths; merged-cell geometry is deterministic.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P-CHART-001 verifies signed data, explicit zero, missing point behavior, labels, and axes.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P-CHART-002 uses category and numeric coordinate charts side by side.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P-NAV-001 speaker note paragraph one.</a:t>
            </a:r>
          </a:p>
          <a:p xmlns:a="http://schemas.openxmlformats.org/drawingml/2006/main">
            <a:r>
              <a:t>The external hyperlink should remain clickable through the text overlay.</a:t>
            </a:r>
          </a:p>
          <a:p xmlns:a="http://schemas.openxmlformats.org/drawingml/2006/main">
            <a:r>
              <a:t>The next slide is intentionally hidden and must not disturb visible-slide navigation.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P-META-001: the postprocessor adds p:sld@show="0".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Id1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Id1"/><Relationship Type="http://schemas.openxmlformats.org/officeDocument/2006/relationships/theme" Target="/ppt/slideMasters/theme/theme2.xml" Id="rId2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image" Target="/ppt/media/image.png" Id="rId1"/><Relationship Type="http://schemas.openxmlformats.org/officeDocument/2006/relationships/notesSlide" Target="/ppt/notesSlides/notesSlide1.xml" Id="rId2"/><Relationship Type="http://schemas.openxmlformats.org/officeDocument/2006/relationships/slideLayout" Target="/ppt/slideLayouts/slideLayout1.xml" Id="rId3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hyperlink" Target="https://github.com/yukiyokotani/office-open-xml-viewer" TargetMode="External" Id="rId1"/><Relationship Type="http://schemas.openxmlformats.org/officeDocument/2006/relationships/notesSlide" Target="/ppt/notesSlides/notesSlide2.xml" Id="rId2"/><Relationship Type="http://schemas.openxmlformats.org/officeDocument/2006/relationships/slideLayout" Target="/ppt/slideLayouts/slideLayout1.xml" Id="rId3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notesSlide" Target="/ppt/notesSlides/notesSlide3.xml" Id="rId1"/><Relationship Type="http://schemas.openxmlformats.org/officeDocument/2006/relationships/slideLayout" Target="/ppt/slideLayouts/slideLayout1.xml" Id="rId2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notesSlide" Target="/ppt/notesSlides/notesSlide4.xml" Id="rId1"/><Relationship Type="http://schemas.openxmlformats.org/officeDocument/2006/relationships/slideLayout" Target="/ppt/slideLayouts/slideLayout1.xml" Id="rId2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notesSlide" Target="/ppt/notesSlides/notesSlide5.xml" Id="rId1"/><Relationship Type="http://schemas.openxmlformats.org/officeDocument/2006/relationships/slideLayout" Target="/ppt/slideLayouts/slideLayout1.xml" Id="rId2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image" Target="/ppt/media/image2.png" Id="rId1"/><Relationship Type="http://schemas.openxmlformats.org/officeDocument/2006/relationships/image" Target="/ppt/media/image3.png" Id="rId2"/><Relationship Type="http://schemas.openxmlformats.org/officeDocument/2006/relationships/image" Target="/ppt/media/image4.png" Id="rId3"/><Relationship Type="http://schemas.openxmlformats.org/officeDocument/2006/relationships/image" Target="/ppt/media/image5.png" Id="rId4"/><Relationship Type="http://schemas.openxmlformats.org/officeDocument/2006/relationships/notesSlide" Target="/ppt/notesSlides/notesSlide6.xml" Id="rId5"/><Relationship Type="http://schemas.openxmlformats.org/officeDocument/2006/relationships/slideLayout" Target="/ppt/slideLayouts/slideLayout1.xml" Id="rId6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notesSlide" Target="/ppt/notesSlides/notesSlide7.xml" Id="rId1"/><Relationship Type="http://schemas.openxmlformats.org/officeDocument/2006/relationships/slideLayout" Target="/ppt/slideLayouts/slideLayout1.xml" Id="rId2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chart" Target="/ppt/slides/charts/chart1.xml" Id="rId1"/><Relationship Type="http://schemas.openxmlformats.org/officeDocument/2006/relationships/chart" Target="/ppt/slides/charts/chart2.xml" Id="rId2"/><Relationship Type="http://schemas.openxmlformats.org/officeDocument/2006/relationships/notesSlide" Target="/ppt/notesSlides/notesSlide8.xml" Id="rId3"/><Relationship Type="http://schemas.openxmlformats.org/officeDocument/2006/relationships/slideLayout" Target="/ppt/slideLayouts/slideLayout1.xml" Id="rId4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chart" Target="/ppt/slides/charts/chart3.xml" Id="rId1"/><Relationship Type="http://schemas.openxmlformats.org/officeDocument/2006/relationships/chart" Target="/ppt/slides/charts/chart4.xml" Id="rId2"/><Relationship Type="http://schemas.openxmlformats.org/officeDocument/2006/relationships/notesSlide" Target="/ppt/notesSlides/notesSlide9.xml" Id="rId3"/><Relationship Type="http://schemas.openxmlformats.org/officeDocument/2006/relationships/slideLayout" Target="/ppt/slideLayouts/slideLayout1.xml" Id="rId4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hyperlink" Target="https://github.com/yukiyokotani/office-open-xml-viewer" TargetMode="External" Id="rId1"/><Relationship Type="http://schemas.openxmlformats.org/officeDocument/2006/relationships/notesSlide" Target="/ppt/notesSlides/notesSlide10.xml" Id="rId2"/><Relationship Type="http://schemas.openxmlformats.org/officeDocument/2006/relationships/slideLayout" Target="/ppt/slideLayouts/slideLayout1.xml" Id="rId3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notesSlide" Target="/ppt/notesSlides/notesSlide11.xml" Id="rId1"/><Relationship Type="http://schemas.openxmlformats.org/officeDocument/2006/relationships/slideLayout" Target="/ppt/slideLayouts/slideLayout1.xml" Id="rId2"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17324D"/>
                </a:solidFill>
              </a:rPr>
              <a:t>Signed values by category</a:t>
            </a:r>
          </a:p>
        </c:rich>
      </c:tx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 b="1">
              <a:solidFill>
                <a:srgbClr val="17324D"/>
              </a:solidFill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Variance</c:v>
          </c:tx>
          <c:spPr>
            <a:solidFill xmlns:a="http://schemas.openxmlformats.org/drawingml/2006/main">
              <a:srgbClr val="2A7F8E"/>
            </a:solidFill>
          </c:spPr>
          <c:invertIfNegative val="0"/>
          <c:cat>
            <c:strLit>
              <c:ptCount val="4"/>
              <c:pt idx="0">
                <c:v>North</c:v>
              </c:pt>
              <c:pt idx="1">
                <c:v>East</c:v>
              </c:pt>
              <c:pt idx="2">
                <c:v>South</c:v>
              </c:pt>
              <c:pt idx="3">
                <c:v>West</c:v>
              </c:pt>
            </c:strLit>
          </c:cat>
          <c:val>
            <c:numLit>
              <c:formatCode>General</c:formatCode>
              <c:ptCount val="4"/>
              <c:pt idx="0">
                <c:v>12</c:v>
              </c:pt>
              <c:pt idx="1">
                <c:v>0</c:v>
              </c:pt>
              <c:pt idx="2">
                <c:v>-8</c:v>
              </c:pt>
              <c:pt idx="3">
                <c:v>21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F29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3DA"/>
              </a:solidFill>
              <a:prstDash val="solid"/>
            </a:ln>
          </c:spPr>
        </c:majorGridlines>
        <c:numFmt formatCode="0;[Red]-0;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B78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ln xmlns:a="http://schemas.openxmlformats.org/drawingml/2006/main" w="9525">
      <a:solidFill>
        <a:srgbClr val="CAD3DA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17324D"/>
                </a:solidFill>
              </a:rPr>
              <a:t>Trend with mixed direction</a:t>
            </a:r>
          </a:p>
        </c:rich>
      </c:tx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 b="1">
              <a:solidFill>
                <a:srgbClr val="17324D"/>
              </a:solidFill>
            </a:defRPr>
          </a:pPr>
        </a:p>
      </c:txPr>
    </c:title>
    <c:plotArea>
      <c:lineChart>
        <c:grouping val="standard"/>
        <c:ser>
          <c:idx val="0"/>
          <c:order val="0"/>
          <c:tx>
            <c:v>Index</c:v>
          </c:tx>
          <c:spPr>
            <a:ln xmlns:a="http://schemas.openxmlformats.org/drawingml/2006/main" w="28575">
              <a:solidFill>
                <a:srgbClr val="17324D"/>
              </a:solidFill>
              <a:prstDash val="solid"/>
            </a:ln>
          </c:spPr>
          <c:marker>
            <c:symbol val="circle"/>
            <c:size val="8"/>
          </c:marker>
          <c:cat>
            <c:strLit>
              <c:ptCount val="5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</c:strLit>
          </c:cat>
          <c:val>
            <c:numLit>
              <c:formatCode>0</c:formatCode>
              <c:ptCount val="5"/>
              <c:pt idx="0">
                <c:v>100</c:v>
              </c:pt>
              <c:pt idx="1">
                <c:v>103</c:v>
              </c:pt>
              <c:pt idx="2">
                <c:v>101</c:v>
              </c:pt>
              <c:pt idx="3">
                <c:v>97</c:v>
              </c:pt>
              <c:pt idx="4">
                <c:v>108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B78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12"/>
          <c:min val="9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3DA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5"/>
      </c:valAx>
    </c:plotArea>
    <c:plotVisOnly val="1"/>
    <c:dispBlanksAs val="gap"/>
  </c:chart>
  <c:spPr>
    <a:ln xmlns:a="http://schemas.openxmlformats.org/drawingml/2006/main" w="9525">
      <a:solidFill>
        <a:srgbClr val="CAD3DA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17324D"/>
                </a:solidFill>
              </a:rPr>
              <a:t>Share of synthetic cases</a:t>
            </a:r>
          </a:p>
        </c:rich>
      </c:tx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 b="1">
              <a:solidFill>
                <a:srgbClr val="17324D"/>
              </a:solidFill>
            </a:defRPr>
          </a:pPr>
        </a:p>
      </c:txPr>
    </c:title>
    <c:plotArea>
      <c:doughnutChart>
        <c:ser>
          <c:idx val="0"/>
          <c:order val="0"/>
          <c:tx>
            <c:v>Share</c:v>
          </c:tx>
          <c:cat>
            <c:strLit>
              <c:ptCount val="4"/>
              <c:pt idx="0">
                <c:v>Text</c:v>
              </c:pt>
              <c:pt idx="1">
                <c:v>Layout</c:v>
              </c:pt>
              <c:pt idx="2">
                <c:v>Drawing</c:v>
              </c:pt>
              <c:pt idx="3">
                <c:v>Metadata</c:v>
              </c:pt>
            </c:strLit>
          </c:cat>
          <c:val>
            <c:numLit>
              <c:formatCode>General</c:formatCode>
              <c:ptCount val="4"/>
              <c:pt idx="0">
                <c:v>34</c:v>
              </c:pt>
              <c:pt idx="1">
                <c:v>29</c:v>
              </c:pt>
              <c:pt idx="2">
                <c:v>24</c:v>
              </c:pt>
              <c:pt idx="3">
                <c:v>13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F2933"/>
                  </a:solidFill>
                </a:defRPr>
              </a:pPr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showLeaderLines val="0"/>
        </c:dLbls>
        <c:firstSliceAng val="25"/>
        <c:holeSize val="58"/>
      </c:doughnutChart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D6B78"/>
              </a:solidFill>
            </a:defRPr>
          </a:pPr>
        </a:p>
      </c:txPr>
    </c:legend>
    <c:plotVisOnly val="1"/>
  </c:chart>
  <c:spPr>
    <a:ln xmlns:a="http://schemas.openxmlformats.org/drawingml/2006/main" w="9525">
      <a:solidFill>
        <a:srgbClr val="CAD3DA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17324D"/>
                </a:solidFill>
              </a:rPr>
              <a:t>Coordinates include negatives and duplicate x</a:t>
            </a:r>
          </a:p>
        </c:rich>
      </c:tx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 b="1">
              <a:solidFill>
                <a:srgbClr val="17324D"/>
              </a:solidFill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Series A</c:v>
          </c:tx>
          <c:spPr>
            <a:ln xmlns:a="http://schemas.openxmlformats.org/drawingml/2006/main" w="19050">
              <a:solidFill>
                <a:srgbClr val="2A7F8E"/>
              </a:solidFill>
              <a:prstDash val="solid"/>
            </a:ln>
          </c:spPr>
          <c:marker>
            <c:symbol val="diamond"/>
            <c:size val="9"/>
          </c:marker>
          <c:xVal>
            <c:numLit>
              <c:formatCode>General</c:formatCode>
              <c:ptCount val="6"/>
              <c:pt idx="0">
                <c:v>-2</c:v>
              </c:pt>
              <c:pt idx="1">
                <c:v>-1</c:v>
              </c:pt>
              <c:pt idx="2">
                <c:v>0</c:v>
              </c:pt>
              <c:pt idx="3">
                <c:v>1</c:v>
              </c:pt>
              <c:pt idx="4">
                <c:v>1</c:v>
              </c:pt>
              <c:pt idx="5">
                <c:v>3</c:v>
              </c:pt>
            </c:numLit>
          </c:xVal>
          <c:yVal>
            <c:numLit>
              <c:formatCode>General</c:formatCode>
              <c:ptCount val="6"/>
              <c:pt idx="0">
                <c:v>4</c:v>
              </c:pt>
              <c:pt idx="1">
                <c:v>1</c:v>
              </c:pt>
              <c:pt idx="2">
                <c:v>0</c:v>
              </c:pt>
              <c:pt idx="3">
                <c:v>1</c:v>
              </c:pt>
              <c:pt idx="4">
                <c:v>2</c:v>
              </c:pt>
              <c:pt idx="5">
                <c:v>9</c:v>
              </c:pt>
            </c:numLit>
          </c:yVal>
        </c:ser>
        <c:axId val="48650112"/>
        <c:axId val="48672768"/>
      </c:scatterChart>
      <c:valAx>
        <c:axId val="48672768"/>
        <c:scaling>
          <c:orientation val="minMax"/>
          <c:max val="10"/>
          <c:min val="-1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3D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majorUnit val="2"/>
      </c:valAx>
      <c:valAx>
        <c:axId val="48650112"/>
        <c:scaling>
          <c:orientation val="minMax"/>
          <c:max val="4"/>
          <c:min val="-3"/>
        </c:scaling>
        <c:delete val="0"/>
        <c:axPos val="b"/>
        <c:majorGridlines>
          <c:spPr>
            <a:ln xmlns:a="http://schemas.openxmlformats.org/drawingml/2006/main" w="9525">
              <a:solidFill>
                <a:srgbClr val="CAD3D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majorUnit val="1"/>
      </c:valAx>
    </c:plotArea>
    <c:plotVisOnly val="1"/>
  </c:chart>
  <c:spPr>
    <a:ln xmlns:a="http://schemas.openxmlformats.org/drawingml/2006/main" w="9525">
      <a:solidFill>
        <a:srgbClr val="CAD3DA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kicker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9144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A7F8E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A7F8E"/>
                </a:solidFill>
                <a:latin typeface="Arial"/>
                <a:ea typeface="Arial"/>
                <a:cs typeface="Arial"/>
              </a:rPr>
              <a:t>OOXML</a:t>
            </a:r>
          </a:p>
        </p:txBody>
      </p:sp>
      <p:sp>
        <p:nvSpPr>
          <p:cNvPr id="2" name="deck-title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1504950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5100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Edge Case Field Guide</a:t>
            </a:r>
          </a:p>
        </p:txBody>
      </p:sp>
      <p:sp>
        <p:nvSpPr>
          <p:cNvPr id="3" name="deck-subtitle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25908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5D6B78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5D6B78"/>
                </a:solidFill>
                <a:latin typeface="Arial"/>
                <a:ea typeface="Arial"/>
                <a:cs typeface="Arial"/>
              </a:rPr>
              <a:t>Synthetic, redistributable PowerPoint corpus</a:t>
            </a:r>
          </a:p>
        </p:txBody>
      </p:sp>
      <p:sp>
        <p:nvSpPr>
          <p:cNvPr id="4" name="title-rule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3219450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A7F8E"/>
            </a:solidFill>
            <a:prstDash val="solid"/>
          </a:ln>
        </p:spPr>
      </p:sp>
      <p:sp>
        <p:nvSpPr>
          <p:cNvPr id="5" name="deck-scope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354330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Text · geometry · paint · images · tables · charts · notes · hidden slides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1"/>
          <a:stretch xmlns:a="http://schemas.openxmlformats.org/drawingml/2006/main"/>
        </p:blipFill>
        <p:spPr>
          <a:xfrm xmlns:a="http://schemas.openxmlformats.org/drawingml/2006/main" rot="240000">
            <a:off x="9201150" y="1390650"/>
            <a:ext cx="2000250" cy="2000250"/>
          </a:xfrm>
          <a:prstGeom xmlns:a="http://schemas.openxmlformats.org/drawingml/2006/main" prst="rect">
            <a:avLst/>
          </a:prstGeom>
        </p:spPr>
      </p:pic>
      <p:sp>
        <p:nvSpPr>
          <p:cNvPr id="7" name="deck-meta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58293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D6B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D6B78"/>
                </a:solidFill>
                <a:latin typeface="Arial"/>
                <a:ea typeface="Arial"/>
                <a:cs typeface="Arial"/>
              </a:rPr>
              <a:t>Revision 1  /  Office PDF reference pending</a:t>
            </a:r>
          </a:p>
        </p:txBody>
      </p:sp>
    </p:spTree>
    <p:extLst>
      <p:ext uri="{00000000-0000-4000-8000-00000000000B}">
        <p14:creationId xmlns:p14="http://schemas.microsoft.com/office/powerpoint/2010/main" val="1000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2-title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4572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Text that crosses run boundaries</a:t>
            </a:r>
          </a:p>
        </p:txBody>
      </p:sp>
      <p:sp>
        <p:nvSpPr>
          <p:cNvPr id="2" name="slide-2-group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96500" y="5524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2A7F8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A7F8E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3" name="slide-2-rule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DA"/>
            </a:solidFill>
            <a:prstDash val="solid"/>
          </a:ln>
        </p:spPr>
      </p:sp>
      <p:sp>
        <p:nvSpPr>
          <p:cNvPr id="4" name="slide-2-footer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641985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D6B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D6B78"/>
                </a:solidFill>
                <a:latin typeface="Arial"/>
                <a:ea typeface="Arial"/>
                <a:cs typeface="Arial"/>
              </a:rPr>
              <a:t>OOXML EDGE CASE FIELD GUIDE  •  PPTX  •  02</a:t>
            </a:r>
          </a:p>
        </p:txBody>
      </p:sp>
      <p:sp>
        <p:nvSpPr>
          <p:cNvPr id="5" name="P-TXT-001-badge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142875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2A7F8E"/>
            </a:solidFill>
            <a:prstDash val="solid"/>
          </a:ln>
        </p:spPr>
        <p:txBody>
          <a:bodyPr xmlns:a="http://schemas.openxmlformats.org/drawingml/2006/main" lIns="38100" tIns="9525" rIns="38100" bIns="9525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P-TXT-001</a:t>
            </a:r>
          </a:p>
        </p:txBody>
      </p:sp>
      <p:sp>
        <p:nvSpPr>
          <p:cNvPr id="6" name="P-TXT-001-title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28850" y="1409700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Rich runs, underline variants, and external link</a:t>
            </a:r>
          </a:p>
        </p:txBody>
      </p:sp>
      <p:sp>
        <p:nvSpPr>
          <p:cNvPr id="7" name="rich-text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19526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F2933"/>
                </a:solidFill>
                <a:latin typeface="Arial"/>
                <a:ea typeface="Arial"/>
                <a:cs typeface="Arial"/>
              </a:rPr>
              <a:t>Regular  </a:t>
            </a:r>
            <a:r>
              <a:rPr sz="19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bold  </a:t>
            </a:r>
            <a:r>
              <a:rPr sz="1950" i="1">
                <a:solidFill>
                  <a:srgbClr val="1F2933"/>
                </a:solidFill>
                <a:latin typeface="Arial"/>
                <a:ea typeface="Arial"/>
                <a:cs typeface="Arial"/>
              </a:rPr>
              <a:t>italic  </a:t>
            </a:r>
            <a:r>
              <a:rPr sz="1950" u="dbl">
                <a:solidFill>
                  <a:srgbClr val="1F2933"/>
                </a:solidFill>
                <a:latin typeface="Arial"/>
                <a:ea typeface="Arial"/>
                <a:cs typeface="Arial"/>
              </a:rPr>
              <a:t>double underline  </a:t>
            </a:r>
            <a:r>
              <a:rPr sz="1950" u="sng">
                <a:solidFill>
                  <a:srgbClr val="1F2933"/>
                </a:solidFill>
                <a:latin typeface="Arial"/>
                <a:ea typeface="Arial"/>
                <a:cs typeface="Arial"/>
                <a:hlinkClick xmlns:r="http://schemas.openxmlformats.org/officeDocument/2006/relationships" r:id="rId1"/>
              </a:rPr>
              <a:t>repository link</a:t>
            </a:r>
          </a:p>
          <a:p xmlns:a="http://schemas.openxmlformats.org/drawingml/2006/main">
            <a:pPr algn="l">
              <a:defRPr sz="1950" b="0" i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F2933"/>
                </a:solidFill>
                <a:latin typeface="Arial"/>
                <a:ea typeface="Arial"/>
                <a:cs typeface="Arial"/>
              </a:rPr>
              <a:t>Superscript ²  ·  Subscript ₂  ·  Combining é  ·  NBSP A B</a:t>
            </a:r>
          </a:p>
        </p:txBody>
      </p:sp>
      <p:sp>
        <p:nvSpPr>
          <p:cNvPr id="8" name="P-UNICODE-001-badge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323850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2A7F8E"/>
            </a:solidFill>
            <a:prstDash val="solid"/>
          </a:ln>
        </p:spPr>
        <p:txBody>
          <a:bodyPr xmlns:a="http://schemas.openxmlformats.org/drawingml/2006/main" lIns="38100" tIns="9525" rIns="38100" bIns="9525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P-UNICODE-001</a:t>
            </a:r>
          </a:p>
        </p:txBody>
      </p:sp>
      <p:sp>
        <p:nvSpPr>
          <p:cNvPr id="9" name="P-UNICODE-001-title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28850" y="3219450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CJK, Korean, Arabic, Hebrew, and symbols</a:t>
            </a:r>
          </a:p>
        </p:txBody>
      </p:sp>
      <p:sp>
        <p:nvSpPr>
          <p:cNvPr id="10" name="unicode-text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3752850"/>
            <a:ext cx="1082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 i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F2933"/>
                </a:solidFill>
                <a:latin typeface="Arial"/>
                <a:ea typeface="Arial"/>
                <a:cs typeface="Arial"/>
              </a:rPr>
              <a:t>日本語「禁則」と全角空白　</a:t>
            </a:r>
            <a:r>
              <a:rPr sz="1875">
                <a:solidFill>
                  <a:srgbClr val="1F2933"/>
                </a:solidFill>
                <a:latin typeface="Arial"/>
                <a:ea typeface="Arial"/>
                <a:cs typeface="Arial"/>
              </a:rPr>
              <a:t>  |  한국어 한글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 i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F2933"/>
                </a:solidFill>
                <a:latin typeface="Arial"/>
                <a:ea typeface="Arial"/>
                <a:cs typeface="Arial"/>
              </a:rPr>
              <a:t>مرحبا بالعالم 123  —  English وسط النص 456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 i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F2933"/>
                </a:solidFill>
                <a:latin typeface="Arial"/>
                <a:ea typeface="Arial"/>
                <a:cs typeface="Arial"/>
              </a:rPr>
              <a:t>שלום עולם 789  |  Symbols: ± × ÷ ∞ ↔ ↕ ☀︎ ☂︎</a:t>
            </a:r>
          </a:p>
        </p:txBody>
      </p:sp>
    </p:spTree>
    <p:extLst>
      <p:ext uri="{00000000-0000-4000-8000-00000000000B}">
        <p14:creationId xmlns:p14="http://schemas.microsoft.com/office/powerpoint/2010/main" val="1000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3-title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4572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Paragraph layout under constrained boxes</a:t>
            </a:r>
          </a:p>
        </p:txBody>
      </p:sp>
      <p:sp>
        <p:nvSpPr>
          <p:cNvPr id="2" name="slide-3-group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96500" y="5524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2A7F8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A7F8E"/>
                </a:solidFill>
                <a:latin typeface="Arial"/>
                <a:ea typeface="Arial"/>
                <a:cs typeface="Arial"/>
              </a:rPr>
              <a:t>PARAGRAPH</a:t>
            </a:r>
          </a:p>
        </p:txBody>
      </p:sp>
      <p:sp>
        <p:nvSpPr>
          <p:cNvPr id="3" name="slide-3-rule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DA"/>
            </a:solidFill>
            <a:prstDash val="solid"/>
          </a:ln>
        </p:spPr>
      </p:sp>
      <p:sp>
        <p:nvSpPr>
          <p:cNvPr id="4" name="slide-3-footer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641985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D6B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D6B78"/>
                </a:solidFill>
                <a:latin typeface="Arial"/>
                <a:ea typeface="Arial"/>
                <a:cs typeface="Arial"/>
              </a:rPr>
              <a:t>OOXML EDGE CASE FIELD GUIDE  •  PPTX  •  03</a:t>
            </a:r>
          </a:p>
        </p:txBody>
      </p:sp>
      <p:sp>
        <p:nvSpPr>
          <p:cNvPr id="5" name="P-PARA-001-badge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142875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2A7F8E"/>
            </a:solidFill>
            <a:prstDash val="solid"/>
          </a:ln>
        </p:spPr>
        <p:txBody>
          <a:bodyPr xmlns:a="http://schemas.openxmlformats.org/drawingml/2006/main" lIns="38100" tIns="9525" rIns="38100" bIns="9525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P-PARA-001</a:t>
            </a:r>
          </a:p>
        </p:txBody>
      </p:sp>
      <p:sp>
        <p:nvSpPr>
          <p:cNvPr id="6" name="P-PARA-001-title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28850" y="1409700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Bullets, indents, spacing, tabs, and autofit</a:t>
            </a:r>
          </a:p>
        </p:txBody>
      </p:sp>
      <p:sp>
        <p:nvSpPr>
          <p:cNvPr id="7" name="bullet-list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1905000"/>
            <a:ext cx="4953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CAD3DA"/>
            </a:solidFill>
            <a:prstDash val="solid"/>
          </a:ln>
        </p:spPr>
        <p:txBody>
          <a:bodyPr xmlns:a="http://schemas.openxmlformats.org/drawingml/2006/main" wrap="square" lIns="209550" tIns="171450" rIns="209550" bIns="171450" anchor="t">
            <a:normAutofit fontScale="100000"/>
          </a:bodyPr>
          <a:lstStyle xmlns:a="http://schemas.openxmlformats.org/drawingml/2006/main"/>
          <a:p xmlns:a="http://schemas.openxmlformats.org/drawingml/2006/main">
            <a:pPr marL="342900" indent="-171450" algn="l">
              <a:lnSpc>
                <a:spcPct val="112000"/>
              </a:lnSpc>
              <a:spcAft>
                <a:spcPts val="12"/>
              </a:spcAft>
              <a:buChar char="•"/>
              <a:defRPr sz="1725" b="0" i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Level one</a:t>
            </a:r>
            <a:r>
              <a:rPr sz="1725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 uses a hanging indent.</a:t>
            </a:r>
          </a:p>
          <a:p xmlns:a="http://schemas.openxmlformats.org/drawingml/2006/main">
            <a:pPr marL="685800" indent="-171450" algn="l">
              <a:lnSpc>
                <a:spcPct val="112000"/>
              </a:lnSpc>
              <a:spcAft>
                <a:spcPts val="12"/>
              </a:spcAft>
              <a:buChar char="–"/>
              <a:defRPr sz="1725" b="0" i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Level two</a:t>
            </a:r>
            <a:r>
              <a:rPr sz="1725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 wraps beneath its text.</a:t>
            </a:r>
          </a:p>
          <a:p xmlns:a="http://schemas.openxmlformats.org/drawingml/2006/main">
            <a:pPr marL="342900" indent="-171450" algn="l">
              <a:lnSpc>
                <a:spcPct val="112000"/>
              </a:lnSpc>
              <a:spcAft>
                <a:spcPts val="12"/>
              </a:spcAft>
              <a:buChar char="•"/>
              <a:defRPr sz="1725" b="0" i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Returning to level one must clear the deeper margin.</a:t>
            </a:r>
          </a:p>
          <a:p xmlns:a="http://schemas.openxmlformats.org/drawingml/2006/main">
            <a:pPr marL="342900" indent="-171450" algn="l">
              <a:lnSpc>
                <a:spcPct val="112000"/>
              </a:lnSpc>
              <a:buChar char="•"/>
              <a:defRPr sz="1725" b="0" i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A long final item forces wrapping without clipping descenders at the bottom edge.</a:t>
            </a:r>
          </a:p>
        </p:txBody>
      </p:sp>
      <p:sp>
        <p:nvSpPr>
          <p:cNvPr id="8" name="P-VERT-001-badge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539115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2A7F8E"/>
            </a:solidFill>
            <a:prstDash val="solid"/>
          </a:ln>
        </p:spPr>
        <p:txBody>
          <a:bodyPr xmlns:a="http://schemas.openxmlformats.org/drawingml/2006/main" lIns="38100" tIns="9525" rIns="38100" bIns="9525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P-VERT-001</a:t>
            </a:r>
          </a:p>
        </p:txBody>
      </p:sp>
      <p:sp>
        <p:nvSpPr>
          <p:cNvPr id="9" name="P-VERT-001-title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28850" y="5372100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Vertical, RTL, and two-column text bodies</a:t>
            </a:r>
          </a:p>
        </p:txBody>
      </p:sp>
      <p:sp>
        <p:nvSpPr>
          <p:cNvPr id="10" name="vertical-text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0" y="1905000"/>
            <a:ext cx="1428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9525">
            <a:solidFill>
              <a:srgbClr val="CAD3DA"/>
            </a:solidFill>
            <a:prstDash val="solid"/>
          </a:ln>
        </p:spPr>
        <p:txBody>
          <a:bodyPr xmlns:a="http://schemas.openxmlformats.org/drawingml/2006/main" wrap="square" lIns="0" tIns="0" rIns="0" bIns="0" anchor="ctr" vert="eaVer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7324D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 i="0">
                <a:solidFill>
                  <a:srgbClr val="17324D"/>
                </a:solidFill>
                <a:latin typeface="Hiragino Sans"/>
                <a:ea typeface="Hiragino Sans"/>
                <a:cs typeface="Hiragino Sans"/>
              </a:rPr>
              <a:t>縦書き</a:t>
            </a:r>
          </a:p>
          <a:p xmlns:a="http://schemas.openxmlformats.org/drawingml/2006/main">
            <a:pPr algn="ctr">
              <a:defRPr sz="2175" b="1" i="0">
                <a:solidFill>
                  <a:srgbClr val="17324D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 i="0">
                <a:solidFill>
                  <a:srgbClr val="17324D"/>
                </a:solidFill>
                <a:latin typeface="Hiragino Sans"/>
                <a:ea typeface="Hiragino Sans"/>
                <a:cs typeface="Hiragino Sans"/>
              </a:rPr>
              <a:t>AB12</a:t>
            </a:r>
          </a:p>
        </p:txBody>
      </p:sp>
      <p:sp>
        <p:nvSpPr>
          <p:cNvPr id="11" name="rtl-text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0500" y="1905000"/>
            <a:ext cx="3429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CAD3DA"/>
            </a:solidFill>
            <a:prstDash val="solid"/>
          </a:ln>
        </p:spPr>
        <p:txBody>
          <a:bodyPr xmlns:a="http://schemas.openxmlformats.org/drawingml/2006/main" wrap="square" lIns="0" tIns="0" rIns="0" bIns="0" anchor="t" rtlCol="1"/>
          <a:lstStyle xmlns:a="http://schemas.openxmlformats.org/drawingml/2006/main"/>
          <a:p xmlns:a="http://schemas.openxmlformats.org/drawingml/2006/main">
            <a:pPr algn="r" rtl="1">
              <a:defRPr sz="1800" b="0" i="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 i="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مرحبا 123</a:t>
            </a:r>
          </a:p>
          <a:p xmlns:a="http://schemas.openxmlformats.org/drawingml/2006/main">
            <a:pPr algn="r" rtl="1">
              <a:defRPr sz="1800" b="0" i="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 i="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English وسط النص</a:t>
            </a:r>
          </a:p>
          <a:p xmlns:a="http://schemas.openxmlformats.org/drawingml/2006/main">
            <a:pPr algn="r" rtl="1">
              <a:defRPr sz="1800" b="0" i="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 i="0">
                <a:solidFill>
                  <a:srgbClr val="1F2933"/>
                </a:solidFill>
                <a:latin typeface="Arial Unicode MS"/>
                <a:ea typeface="Arial Unicode MS"/>
                <a:cs typeface="Arial Unicode MS"/>
              </a:rPr>
              <a:t>שלום 456</a:t>
            </a:r>
          </a:p>
        </p:txBody>
      </p:sp>
      <p:sp>
        <p:nvSpPr>
          <p:cNvPr id="12" name="multicol-text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0500" y="3390900"/>
            <a:ext cx="3429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CAD3DA"/>
            </a:solidFill>
            <a:prstDash val="solid"/>
          </a:ln>
        </p:spPr>
        <p:txBody>
          <a:bodyPr xmlns:a="http://schemas.openxmlformats.org/drawingml/2006/main" wrap="square" lIns="0" tIns="0" rIns="0" bIns="0" anchor="t" numCol="2" spcCol="228600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Column one flows before column two. A long sentence forces balanced wrapping across the internal text-body columns without changing the outer shape.</a:t>
            </a:r>
          </a:p>
        </p:txBody>
      </p:sp>
    </p:spTree>
    <p:extLst>
      <p:ext uri="{00000000-0000-4000-8000-00000000000B}">
        <p14:creationId xmlns:p14="http://schemas.microsoft.com/office/powerpoint/2010/main" val="1000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4-title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4572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Geometry, transforms, and connectors</a:t>
            </a:r>
          </a:p>
        </p:txBody>
      </p:sp>
      <p:sp>
        <p:nvSpPr>
          <p:cNvPr id="2" name="slide-4-group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96500" y="5524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2A7F8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A7F8E"/>
                </a:solidFill>
                <a:latin typeface="Arial"/>
                <a:ea typeface="Arial"/>
                <a:cs typeface="Arial"/>
              </a:rPr>
              <a:t>GEOMETRY</a:t>
            </a:r>
          </a:p>
        </p:txBody>
      </p:sp>
      <p:sp>
        <p:nvSpPr>
          <p:cNvPr id="3" name="slide-4-rule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DA"/>
            </a:solidFill>
            <a:prstDash val="solid"/>
          </a:ln>
        </p:spPr>
      </p:sp>
      <p:sp>
        <p:nvSpPr>
          <p:cNvPr id="4" name="slide-4-footer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641985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D6B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D6B78"/>
                </a:solidFill>
                <a:latin typeface="Arial"/>
                <a:ea typeface="Arial"/>
                <a:cs typeface="Arial"/>
              </a:rPr>
              <a:t>OOXML EDGE CASE FIELD GUIDE  •  PPTX  •  04</a:t>
            </a:r>
          </a:p>
        </p:txBody>
      </p:sp>
      <p:sp>
        <p:nvSpPr>
          <p:cNvPr id="5" name="P-GEOM-001-badge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142875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2A7F8E"/>
            </a:solidFill>
            <a:prstDash val="solid"/>
          </a:ln>
        </p:spPr>
        <p:txBody>
          <a:bodyPr xmlns:a="http://schemas.openxmlformats.org/drawingml/2006/main" lIns="38100" tIns="9525" rIns="38100" bIns="9525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P-GEOM-001</a:t>
            </a:r>
          </a:p>
        </p:txBody>
      </p:sp>
      <p:sp>
        <p:nvSpPr>
          <p:cNvPr id="6" name="P-GEOM-001-title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28850" y="1409700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Preset shapes, rotation, flip, z-order, and arrows</a:t>
            </a:r>
          </a:p>
        </p:txBody>
      </p:sp>
      <p:sp>
        <p:nvSpPr>
          <p:cNvPr id="7" name="geometry-1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7750" y="2190750"/>
            <a:ext cx="1809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19050">
            <a:solidFill>
              <a:srgbClr val="17324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Rounded</a:t>
            </a:r>
          </a:p>
        </p:txBody>
      </p:sp>
      <p:sp>
        <p:nvSpPr>
          <p:cNvPr id="8" name="geometry-2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20000" flipH="0" flipV="0">
            <a:off x="3476625" y="2190750"/>
            <a:ext cx="161925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19050">
            <a:solidFill>
              <a:srgbClr val="17324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Ellipse</a:t>
            </a:r>
          </a:p>
        </p:txBody>
      </p:sp>
      <p:sp>
        <p:nvSpPr>
          <p:cNvPr id="9" name="geometry-3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" flipH="0" flipV="0">
            <a:off x="5905500" y="2095500"/>
            <a:ext cx="1714500" cy="11049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D79A2B"/>
          </a:solidFill>
          <a:ln xmlns:a="http://schemas.openxmlformats.org/drawingml/2006/main" w="19050">
            <a:solidFill>
              <a:srgbClr val="17324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Hexagon</a:t>
            </a:r>
          </a:p>
        </p:txBody>
      </p:sp>
      <p:sp>
        <p:nvSpPr>
          <p:cNvPr id="10" name="geometry-4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8429625" y="2095500"/>
            <a:ext cx="2095500" cy="1104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4A3A"/>
          </a:solidFill>
          <a:ln xmlns:a="http://schemas.openxmlformats.org/drawingml/2006/main" w="19050">
            <a:solidFill>
              <a:srgbClr val="17324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Arrow</a:t>
            </a:r>
          </a:p>
        </p:txBody>
      </p:sp>
      <p:sp>
        <p:nvSpPr>
          <p:cNvPr id="11" name="geometry-5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60000" flipH="0" flipV="1">
            <a:off x="4905375" y="3905250"/>
            <a:ext cx="1809750" cy="1428750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19050">
            <a:solidFill>
              <a:srgbClr val="1732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Star</a:t>
            </a:r>
          </a:p>
        </p:txBody>
      </p: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8" idx="2"/>
          </p:cNvCxnSpPr>
          <p:nvPr/>
        </p:nvCxnSpPr>
        <p:spPr>
          <a:xfrm xmlns:a="http://schemas.openxmlformats.org/drawingml/2006/main" flipV="1">
            <a:off x="2857500" y="2479619"/>
            <a:ext cx="636817" cy="168331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D6B78"/>
            </a:solidFill>
            <a:prstDash val="solid"/>
            <a:headEnd type="triangle" w="med" len="med"/>
          </a:ln>
        </p:spPr>
      </p:cxnSp>
      <p:cxnSp>
        <p:nvCxnSpPr>
          <p:cNvPr id="27" name=""/>
          <p:cNvCxnSpPr>
            <a:stCxn xmlns:a="http://schemas.openxmlformats.org/drawingml/2006/main" id="8" idx="6"/>
            <a:endCxn xmlns:a="http://schemas.openxmlformats.org/drawingml/2006/main" id="9" idx="3"/>
          </p:cNvCxnSpPr>
          <p:nvPr/>
        </p:nvCxnSpPr>
        <p:spPr>
          <a:xfrm xmlns:a="http://schemas.openxmlformats.org/drawingml/2006/main" flipV="1">
            <a:off x="5078183" y="2782053"/>
            <a:ext cx="837871" cy="81756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2A7F8E"/>
            </a:solidFill>
            <a:prstDash val="dash"/>
            <a:headEnd type="arrow" w="sm" len="sm"/>
          </a:ln>
        </p:spPr>
      </p:cxnSp>
      <p:cxnSp>
        <p:nvCxnSpPr>
          <p:cNvPr id="28" name=""/>
          <p:cNvCxnSpPr>
            <a:stCxn xmlns:a="http://schemas.openxmlformats.org/drawingml/2006/main" id="9" idx="0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609446" y="2513847"/>
            <a:ext cx="2915679" cy="13410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4A3A"/>
            </a:solidFill>
            <a:prstDash val="dashDot"/>
            <a:headEnd type="triangle" w="med" len="med"/>
          </a:ln>
        </p:spPr>
      </p:cxnSp>
    </p:spTree>
    <p:extLst>
      <p:ext uri="{00000000-0000-4000-8000-00000000000B}">
        <p14:creationId xmlns:p14="http://schemas.microsoft.com/office/powerpoint/2010/main" val="1000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5-title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4572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Paint and effect boundaries</a:t>
            </a:r>
          </a:p>
        </p:txBody>
      </p:sp>
      <p:sp>
        <p:nvSpPr>
          <p:cNvPr id="2" name="slide-5-group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96500" y="5524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2A7F8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A7F8E"/>
                </a:solidFill>
                <a:latin typeface="Arial"/>
                <a:ea typeface="Arial"/>
                <a:cs typeface="Arial"/>
              </a:rPr>
              <a:t>PAINT</a:t>
            </a:r>
          </a:p>
        </p:txBody>
      </p:sp>
      <p:sp>
        <p:nvSpPr>
          <p:cNvPr id="3" name="slide-5-rule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DA"/>
            </a:solidFill>
            <a:prstDash val="solid"/>
          </a:ln>
        </p:spPr>
      </p:sp>
      <p:sp>
        <p:nvSpPr>
          <p:cNvPr id="4" name="slide-5-footer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641985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D6B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D6B78"/>
                </a:solidFill>
                <a:latin typeface="Arial"/>
                <a:ea typeface="Arial"/>
                <a:cs typeface="Arial"/>
              </a:rPr>
              <a:t>OOXML EDGE CASE FIELD GUIDE  •  PPTX  •  05</a:t>
            </a:r>
          </a:p>
        </p:txBody>
      </p:sp>
      <p:sp>
        <p:nvSpPr>
          <p:cNvPr id="5" name="P-PAINT-001-badge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142875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2A7F8E"/>
            </a:solidFill>
            <a:prstDash val="solid"/>
          </a:ln>
        </p:spPr>
        <p:txBody>
          <a:bodyPr xmlns:a="http://schemas.openxmlformats.org/drawingml/2006/main" lIns="38100" tIns="9525" rIns="38100" bIns="9525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P-PAINT-001</a:t>
            </a:r>
          </a:p>
        </p:txBody>
      </p:sp>
      <p:sp>
        <p:nvSpPr>
          <p:cNvPr id="6" name="P-PAINT-001-title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28850" y="1409700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Solid, gradient, pattern, alpha, line styles, and shadow</a:t>
            </a:r>
          </a:p>
        </p:txBody>
      </p:sp>
      <p:sp>
        <p:nvSpPr>
          <p:cNvPr id="7" name="solid-fill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2190750"/>
            <a:ext cx="2286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38100">
            <a:solidFill>
              <a:srgbClr val="2A7F8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Solid</a:t>
            </a:r>
          </a:p>
        </p:txBody>
      </p:sp>
      <p:sp>
        <p:nvSpPr>
          <p:cNvPr id="8" name="gradient-fill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19500" y="2190750"/>
            <a:ext cx="2286000" cy="18097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9BD4D9"/>
              </a:gs>
            </a:gsLst>
            <a:lin ang="2100000"/>
          </a:gradFill>
          <a:ln xmlns:a="http://schemas.openxmlformats.org/drawingml/2006/main" w="19050">
            <a:solidFill>
              <a:srgbClr val="1732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Linear gradient</a:t>
            </a:r>
          </a:p>
        </p:txBody>
      </p:sp>
      <p:sp>
        <p:nvSpPr>
          <p:cNvPr id="9" name="pattern-fill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00800" y="2190750"/>
            <a:ext cx="2286000" cy="1809750"/>
          </a:xfrm>
          <a:prstGeom xmlns:a="http://schemas.openxmlformats.org/drawingml/2006/main" prst="roundRect">
            <a:avLst>
              <a:gd name="adj" fmla="val 8421"/>
            </a:avLst>
          </a:prstGeom>
          <a:pattFill xmlns:a="http://schemas.openxmlformats.org/drawingml/2006/main" prst="diagCross">
            <a:fgClr>
              <a:srgbClr val="2A7F8E">
                <a:alpha val="55000"/>
              </a:srgbClr>
            </a:fgClr>
            <a:bgClr>
              <a:srgbClr val="FFFFFF"/>
            </a:bgClr>
          </a:pattFill>
          <a:ln xmlns:a="http://schemas.openxmlformats.org/drawingml/2006/main" w="28575">
            <a:solidFill>
              <a:srgbClr val="17324D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Pattern</a:t>
            </a:r>
          </a:p>
        </p:txBody>
      </p:sp>
      <p:sp>
        <p:nvSpPr>
          <p:cNvPr id="10" name="alpha-fill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2100" y="2190750"/>
            <a:ext cx="2286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A3A">
              <a:alpha val="40000"/>
            </a:srgbClr>
          </a:solidFill>
          <a:ln xmlns:a="http://schemas.openxmlformats.org/drawingml/2006/main" w="38100">
            <a:solidFill>
              <a:srgbClr val="B44A3A"/>
            </a:solidFill>
            <a:prstDash val="dot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40% alpha</a:t>
            </a:r>
          </a:p>
        </p:txBody>
      </p:sp>
      <p:sp>
        <p:nvSpPr>
          <p:cNvPr id="11" name="P-EFFECT-001-badge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457200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2A7F8E"/>
            </a:solidFill>
            <a:prstDash val="solid"/>
          </a:ln>
        </p:spPr>
        <p:txBody>
          <a:bodyPr xmlns:a="http://schemas.openxmlformats.org/drawingml/2006/main" lIns="38100" tIns="9525" rIns="38100" bIns="9525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P-EFFECT-001</a:t>
            </a:r>
          </a:p>
        </p:txBody>
      </p:sp>
      <p:sp>
        <p:nvSpPr>
          <p:cNvPr id="12" name="P-EFFECT-001-title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28850" y="4552950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Text outline and gradient text fill</a:t>
            </a:r>
          </a:p>
        </p:txBody>
      </p:sp>
      <p:sp>
        <p:nvSpPr>
          <p:cNvPr id="13" name="effect-text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5067300"/>
            <a:ext cx="1038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ln w="9525">
                  <a:solidFill>
                    <a:srgbClr val="FFFFFF">
                      <a:alpha val="45000"/>
                    </a:srgbClr>
                  </a:solidFill>
                  <a:prstDash val="solid"/>
                </a:ln>
                <a:gradFill>
                  <a:gsLst>
                    <a:gs pos="0">
                      <a:srgbClr val="2A7F8E"/>
                    </a:gs>
                    <a:gs pos="100000">
                      <a:srgbClr val="17324D"/>
                    </a:gs>
                  </a:gsLst>
                  <a:lin ang="0"/>
                </a:gradFill>
                <a:latin typeface="Arial"/>
                <a:ea typeface="Arial"/>
                <a:cs typeface="Arial"/>
              </a:rPr>
              <a:t>Gradient text  /  outlined text</a:t>
            </a:r>
          </a:p>
        </p:txBody>
      </p:sp>
    </p:spTree>
    <p:extLst>
      <p:ext uri="{00000000-0000-4000-8000-00000000000B}">
        <p14:creationId xmlns:p14="http://schemas.microsoft.com/office/powerpoint/2010/main" val="1000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6-title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4572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Image crops, masks, and transforms</a:t>
            </a:r>
          </a:p>
        </p:txBody>
      </p:sp>
      <p:sp>
        <p:nvSpPr>
          <p:cNvPr id="2" name="slide-6-group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96500" y="5524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2A7F8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A7F8E"/>
                </a:solidFill>
                <a:latin typeface="Arial"/>
                <a:ea typeface="Arial"/>
                <a:cs typeface="Arial"/>
              </a:rPr>
              <a:t>IMAGE</a:t>
            </a:r>
          </a:p>
        </p:txBody>
      </p:sp>
      <p:sp>
        <p:nvSpPr>
          <p:cNvPr id="3" name="slide-6-rule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DA"/>
            </a:solidFill>
            <a:prstDash val="solid"/>
          </a:ln>
        </p:spPr>
      </p:sp>
      <p:sp>
        <p:nvSpPr>
          <p:cNvPr id="4" name="slide-6-footer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641985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D6B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D6B78"/>
                </a:solidFill>
                <a:latin typeface="Arial"/>
                <a:ea typeface="Arial"/>
                <a:cs typeface="Arial"/>
              </a:rPr>
              <a:t>OOXML EDGE CASE FIELD GUIDE  •  PPTX  •  06</a:t>
            </a:r>
          </a:p>
        </p:txBody>
      </p:sp>
      <p:sp>
        <p:nvSpPr>
          <p:cNvPr id="5" name="P-IMAGE-001-badge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142875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2A7F8E"/>
            </a:solidFill>
            <a:prstDash val="solid"/>
          </a:ln>
        </p:spPr>
        <p:txBody>
          <a:bodyPr xmlns:a="http://schemas.openxmlformats.org/drawingml/2006/main" lIns="38100" tIns="9525" rIns="38100" bIns="9525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P-IMAGE-001</a:t>
            </a:r>
          </a:p>
        </p:txBody>
      </p:sp>
      <p:sp>
        <p:nvSpPr>
          <p:cNvPr id="6" name="P-IMAGE-001-title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28850" y="1409700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Contain, cover, crop, mask, rotation, and flip</a:t>
            </a:r>
          </a:p>
        </p:txBody>
      </p:sp>
      <p:sp>
        <p:nvSpPr>
          <p:cNvPr id="7" name="image-frame-1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2095500"/>
            <a:ext cx="2190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CAD3DA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1"/>
          <a:stretch xmlns:a="http://schemas.openxmlformats.org/drawingml/2006/main"/>
        </p:blipFill>
        <p:spPr>
          <a:xfrm xmlns:a="http://schemas.openxmlformats.org/drawingml/2006/main">
            <a:off x="1009650" y="2286000"/>
            <a:ext cx="1847850" cy="1847850"/>
          </a:xfrm>
          <a:prstGeom xmlns:a="http://schemas.openxmlformats.org/drawingml/2006/main" prst="rect">
            <a:avLst/>
          </a:prstGeom>
        </p:spPr>
      </p:pic>
      <p:sp>
        <p:nvSpPr>
          <p:cNvPr id="9" name="image-label-1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46291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contain</a:t>
            </a:r>
          </a:p>
        </p:txBody>
      </p:sp>
      <p:sp>
        <p:nvSpPr>
          <p:cNvPr id="10" name="image-frame-2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76625" y="2095500"/>
            <a:ext cx="2190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CAD3DA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480000">
            <a:off x="3648075" y="2286000"/>
            <a:ext cx="1847850" cy="1847850"/>
          </a:xfrm>
          <a:prstGeom xmlns:a="http://schemas.openxmlformats.org/drawingml/2006/main" prst="rect">
            <a:avLst/>
          </a:prstGeom>
        </p:spPr>
      </p:pic>
      <p:sp>
        <p:nvSpPr>
          <p:cNvPr id="12" name="image-label-2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76625" y="46291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cover + crop</a:t>
            </a:r>
          </a:p>
        </p:txBody>
      </p:sp>
      <p:sp>
        <p:nvSpPr>
          <p:cNvPr id="13" name="image-frame-3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15050" y="2095500"/>
            <a:ext cx="2190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CAD3DA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2286000"/>
            <a:ext cx="1847850" cy="1847850"/>
          </a:xfrm>
          <a:prstGeom xmlns:a="http://schemas.openxmlformats.org/drawingml/2006/main" prst="ellipse">
            <a:avLst/>
          </a:prstGeom>
        </p:spPr>
      </p:pic>
      <p:sp>
        <p:nvSpPr>
          <p:cNvPr id="15" name="image-label-3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15050" y="46291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ellipse mask</a:t>
            </a:r>
          </a:p>
        </p:txBody>
      </p:sp>
      <p:sp>
        <p:nvSpPr>
          <p:cNvPr id="16" name="image-frame-4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53475" y="2095500"/>
            <a:ext cx="2190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CAD3DA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8924925" y="2286000"/>
            <a:ext cx="1847850" cy="1847850"/>
          </a:xfrm>
          <a:prstGeom xmlns:a="http://schemas.openxmlformats.org/drawingml/2006/main" prst="roundRect">
            <a:avLst>
              <a:gd name="adj" fmla="val 12371"/>
            </a:avLst>
          </a:prstGeom>
        </p:spPr>
      </p:pic>
      <p:sp>
        <p:nvSpPr>
          <p:cNvPr id="18" name="image-label-4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53475" y="46291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round + flip</a:t>
            </a:r>
          </a:p>
        </p:txBody>
      </p:sp>
    </p:spTree>
    <p:extLst>
      <p:ext uri="{00000000-0000-4000-8000-00000000000B}">
        <p14:creationId xmlns:p14="http://schemas.microsoft.com/office/powerpoint/2010/main" val="1000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7-title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4572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Tables with merge and border pressure</a:t>
            </a:r>
          </a:p>
        </p:txBody>
      </p:sp>
      <p:sp>
        <p:nvSpPr>
          <p:cNvPr id="2" name="slide-7-group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96500" y="5524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2A7F8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A7F8E"/>
                </a:solidFill>
                <a:latin typeface="Arial"/>
                <a:ea typeface="Arial"/>
                <a:cs typeface="Arial"/>
              </a:rPr>
              <a:t>TABLE</a:t>
            </a:r>
          </a:p>
        </p:txBody>
      </p:sp>
      <p:sp>
        <p:nvSpPr>
          <p:cNvPr id="3" name="slide-7-rule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DA"/>
            </a:solidFill>
            <a:prstDash val="solid"/>
          </a:ln>
        </p:spPr>
      </p:sp>
      <p:sp>
        <p:nvSpPr>
          <p:cNvPr id="4" name="slide-7-footer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641985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D6B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D6B78"/>
                </a:solidFill>
                <a:latin typeface="Arial"/>
                <a:ea typeface="Arial"/>
                <a:cs typeface="Arial"/>
              </a:rPr>
              <a:t>OOXML EDGE CASE FIELD GUIDE  •  PPTX  •  07</a:t>
            </a:r>
          </a:p>
        </p:txBody>
      </p:sp>
      <p:sp>
        <p:nvSpPr>
          <p:cNvPr id="5" name="P-TABLE-001-badge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142875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2A7F8E"/>
            </a:solidFill>
            <a:prstDash val="solid"/>
          </a:ln>
        </p:spPr>
        <p:txBody>
          <a:bodyPr xmlns:a="http://schemas.openxmlformats.org/drawingml/2006/main" lIns="38100" tIns="9525" rIns="38100" bIns="9525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P-TABLE-001</a:t>
            </a:r>
          </a:p>
        </p:txBody>
      </p:sp>
      <p:sp>
        <p:nvSpPr>
          <p:cNvPr id="6" name="P-TABLE-001-title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28850" y="1409700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Merged title, unequal columns, wrapped text, and fills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838200" y="2076450"/>
          <a:ext xmlns:a="http://schemas.openxmlformats.org/drawingml/2006/main" cx="10515600" cy="342900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428750"/>
                <a:gridCol w="1809750"/>
                <a:gridCol w="5143500"/>
                <a:gridCol w="2133600"/>
              </a:tblGrid>
              <a:tr h="571500">
                <a:tc gridSpan="4">
                  <a:txBody>
                    <a:bodyPr anchor="ctr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</a:rPr>
                        <a:t>Quarterly field observations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 anchor="ctr"/>
                    <a:lstStyle/>
                    <a:p>
                      <a:r>
                        <a:rPr sz="1500" b="1">
                          <a:solidFill>
                            <a:srgbClr val="17324D"/>
                          </a:solidFill>
                        </a:rPr>
                        <a:t>ID</a:t>
                      </a:r>
                    </a:p>
                  </a:txBody>
                  <a:tcPr marL="91440" marR="91440" marT="45720" marB="45720">
                    <a:solidFill>
                      <a:srgbClr val="F4F0E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500" b="1">
                          <a:solidFill>
                            <a:srgbClr val="17324D"/>
                          </a:solidFill>
                        </a:rPr>
                        <a:t>Value</a:t>
                      </a:r>
                    </a:p>
                  </a:txBody>
                  <a:tcPr marL="91440" marR="91440" marT="45720" marB="45720">
                    <a:solidFill>
                      <a:srgbClr val="F4F0E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500" b="1">
                          <a:solidFill>
                            <a:srgbClr val="17324D"/>
                          </a:solidFill>
                        </a:rPr>
                        <a:t>Expected rendering invariant</a:t>
                      </a:r>
                    </a:p>
                  </a:txBody>
                  <a:tcPr marL="91440" marR="91440" marT="45720" marB="45720">
                    <a:solidFill>
                      <a:srgbClr val="F4F0E8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500" b="1">
                          <a:solidFill>
                            <a:srgbClr val="17324D"/>
                          </a:solidFill>
                        </a:rPr>
                        <a:t>Direction</a:t>
                      </a:r>
                    </a:p>
                  </a:txBody>
                  <a:tcPr marL="91440" marR="91440" marT="45720" marB="45720">
                    <a:solidFill>
                      <a:srgbClr val="F4F0E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F2933"/>
                          </a:solidFill>
                        </a:rPr>
                        <a:t>T-01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F2933"/>
                          </a:solidFill>
                        </a:rPr>
                        <a:t>Zero remains visible and centered.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F2933"/>
                          </a:solidFill>
                        </a:rPr>
                        <a:t>LTR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F2933"/>
                          </a:solidFill>
                        </a:rPr>
                        <a:t>T-02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F2933"/>
                          </a:solidFill>
                        </a:rPr>
                        <a:t>-12.5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F2933"/>
                          </a:solidFill>
                        </a:rPr>
                        <a:t>Negative decimals keep their sign and baseline.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F2933"/>
                          </a:solidFill>
                        </a:rPr>
                        <a:t>RTL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F2933"/>
                          </a:solidFill>
                        </a:rPr>
                        <a:t>T-03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F2933"/>
                          </a:solidFill>
                        </a:rPr>
                        <a:t>100%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F2933"/>
                          </a:solidFill>
                        </a:rPr>
                        <a:t>Wrapped text expands inside the cell without clipping.</a:t>
                      </a:r>
                    </a:p>
                  </a:txBody>
                  <a:tcPr marL="91440" marR="91440" marT="45720" marB="45720"/>
                </a:tc>
                <a:tc>
                  <a:txBody>
                    <a:bodyPr vert="vert"/>
                    <a:lstStyle/>
                    <a:p>
                      <a:r>
                        <a:rPr sz="1425">
                          <a:solidFill>
                            <a:srgbClr val="1F2933"/>
                          </a:solidFill>
                        </a:rPr>
                        <a:t>Vertical</a:t>
                      </a:r>
                    </a:p>
                  </a:txBody>
                  <a:tcPr marL="91440" marR="91440" marT="45720" marB="45720">
                    <a:lnTlToBr w="12700">
                      <a:solidFill>
                        <a:srgbClr val="CAD3DA"/>
                      </a:solidFill>
                      <a:prstDash val="solid"/>
                    </a:lnTlToBr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F2933"/>
                          </a:solidFill>
                        </a:rPr>
                        <a:t>T-04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F2933"/>
                          </a:solidFill>
                        </a:rPr>
                        <a:t>A 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F2933"/>
                          </a:solidFill>
                        </a:rPr>
                        <a:t>NBSP prevents an unintended break.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F2933"/>
                          </a:solidFill>
                        </a:rPr>
                        <a:t>Mixed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00000000-0000-4000-8000-00000000000B}">
        <p14:creationId xmlns:p14="http://schemas.microsoft.com/office/powerpoint/2010/main" val="1000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8-title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4572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Charts with explicit axes and labels</a:t>
            </a:r>
          </a:p>
        </p:txBody>
      </p:sp>
      <p:sp>
        <p:nvSpPr>
          <p:cNvPr id="2" name="slide-8-group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96500" y="5524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2A7F8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A7F8E"/>
                </a:solidFill>
                <a:latin typeface="Arial"/>
                <a:ea typeface="Arial"/>
                <a:cs typeface="Arial"/>
              </a:rPr>
              <a:t>CHART</a:t>
            </a:r>
          </a:p>
        </p:txBody>
      </p:sp>
      <p:sp>
        <p:nvSpPr>
          <p:cNvPr id="3" name="slide-8-rule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DA"/>
            </a:solidFill>
            <a:prstDash val="solid"/>
          </a:ln>
        </p:spPr>
      </p:sp>
      <p:sp>
        <p:nvSpPr>
          <p:cNvPr id="4" name="slide-8-footer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641985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D6B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D6B78"/>
                </a:solidFill>
                <a:latin typeface="Arial"/>
                <a:ea typeface="Arial"/>
                <a:cs typeface="Arial"/>
              </a:rPr>
              <a:t>OOXML EDGE CASE FIELD GUIDE  •  PPTX  •  08</a:t>
            </a:r>
          </a:p>
        </p:txBody>
      </p:sp>
      <p:sp>
        <p:nvSpPr>
          <p:cNvPr id="5" name="P-CHART-001-badge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142875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2A7F8E"/>
            </a:solidFill>
            <a:prstDash val="solid"/>
          </a:ln>
        </p:spPr>
        <p:txBody>
          <a:bodyPr xmlns:a="http://schemas.openxmlformats.org/drawingml/2006/main" lIns="38100" tIns="9525" rIns="38100" bIns="9525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P-CHART-001</a:t>
            </a:r>
          </a:p>
        </p:txBody>
      </p:sp>
      <p:sp>
        <p:nvSpPr>
          <p:cNvPr id="6" name="P-CHART-001-title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28850" y="1409700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Bar and line charts with zero and negative values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85800" y="2047875"/>
          <a:ext xmlns:a="http://schemas.openxmlformats.org/drawingml/2006/main" cx="5191125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Id1"/>
          </a:graphicData>
        </a:graphic>
      </p:graphicFrame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315075" y="2047875"/>
          <a:ext xmlns:a="http://schemas.openxmlformats.org/drawingml/2006/main" cx="5191125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Id2"/>
          </a:graphicData>
        </a:graphic>
      </p:graphicFrame>
    </p:spTree>
    <p:extLst>
      <p:ext uri="{00000000-0000-4000-8000-00000000000B}">
        <p14:creationId xmlns:p14="http://schemas.microsoft.com/office/powerpoint/2010/main" val="1000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9-title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4572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Chart families with different coordinate systems</a:t>
            </a:r>
          </a:p>
        </p:txBody>
      </p:sp>
      <p:sp>
        <p:nvSpPr>
          <p:cNvPr id="2" name="slide-9-group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96500" y="5524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2A7F8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A7F8E"/>
                </a:solidFill>
                <a:latin typeface="Arial"/>
                <a:ea typeface="Arial"/>
                <a:cs typeface="Arial"/>
              </a:rPr>
              <a:t>CHART</a:t>
            </a:r>
          </a:p>
        </p:txBody>
      </p:sp>
      <p:sp>
        <p:nvSpPr>
          <p:cNvPr id="3" name="slide-9-rule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DA"/>
            </a:solidFill>
            <a:prstDash val="solid"/>
          </a:ln>
        </p:spPr>
      </p:sp>
      <p:sp>
        <p:nvSpPr>
          <p:cNvPr id="4" name="slide-9-footer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641985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D6B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D6B78"/>
                </a:solidFill>
                <a:latin typeface="Arial"/>
                <a:ea typeface="Arial"/>
                <a:cs typeface="Arial"/>
              </a:rPr>
              <a:t>OOXML EDGE CASE FIELD GUIDE  •  PPTX  •  09</a:t>
            </a:r>
          </a:p>
        </p:txBody>
      </p:sp>
      <p:sp>
        <p:nvSpPr>
          <p:cNvPr id="5" name="P-CHART-002-badge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142875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2A7F8E"/>
            </a:solidFill>
            <a:prstDash val="solid"/>
          </a:ln>
        </p:spPr>
        <p:txBody>
          <a:bodyPr xmlns:a="http://schemas.openxmlformats.org/drawingml/2006/main" lIns="38100" tIns="9525" rIns="38100" bIns="9525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P-CHART-002</a:t>
            </a:r>
          </a:p>
        </p:txBody>
      </p:sp>
      <p:sp>
        <p:nvSpPr>
          <p:cNvPr id="6" name="P-CHART-002-title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28850" y="1409700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Doughnut labels and scatter markers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762000" y="2047875"/>
          <a:ext xmlns:a="http://schemas.openxmlformats.org/drawingml/2006/main" cx="476250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Id1"/>
          </a:graphicData>
        </a:graphic>
      </p:graphicFrame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191250" y="2047875"/>
          <a:ext xmlns:a="http://schemas.openxmlformats.org/drawingml/2006/main" cx="531495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Id2"/>
          </a:graphicData>
        </a:graphic>
      </p:graphicFrame>
    </p:spTree>
    <p:extLst>
      <p:ext uri="{00000000-0000-4000-8000-00000000000B}">
        <p14:creationId xmlns:p14="http://schemas.microsoft.com/office/powerpoint/2010/main" val="1000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10-title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4572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Navigation and metadata are first-class cases</a:t>
            </a:r>
          </a:p>
        </p:txBody>
      </p:sp>
      <p:sp>
        <p:nvSpPr>
          <p:cNvPr id="2" name="slide-10-group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96500" y="5524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2A7F8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A7F8E"/>
                </a:solidFill>
                <a:latin typeface="Arial"/>
                <a:ea typeface="Arial"/>
                <a:cs typeface="Arial"/>
              </a:rPr>
              <a:t>NAVIGATION</a:t>
            </a:r>
          </a:p>
        </p:txBody>
      </p:sp>
      <p:sp>
        <p:nvSpPr>
          <p:cNvPr id="3" name="slide-10-rule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DA"/>
            </a:solidFill>
            <a:prstDash val="solid"/>
          </a:ln>
        </p:spPr>
      </p:sp>
      <p:sp>
        <p:nvSpPr>
          <p:cNvPr id="4" name="slide-10-footer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641985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D6B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D6B78"/>
                </a:solidFill>
                <a:latin typeface="Arial"/>
                <a:ea typeface="Arial"/>
                <a:cs typeface="Arial"/>
              </a:rPr>
              <a:t>OOXML EDGE CASE FIELD GUIDE  •  PPTX  •  10</a:t>
            </a:r>
          </a:p>
        </p:txBody>
      </p:sp>
      <p:sp>
        <p:nvSpPr>
          <p:cNvPr id="5" name="P-NAV-001-badge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142875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2A7F8E"/>
            </a:solidFill>
            <a:prstDash val="solid"/>
          </a:ln>
        </p:spPr>
        <p:txBody>
          <a:bodyPr xmlns:a="http://schemas.openxmlformats.org/drawingml/2006/main" lIns="38100" tIns="9525" rIns="38100" bIns="9525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P-NAV-001</a:t>
            </a:r>
          </a:p>
        </p:txBody>
      </p:sp>
      <p:sp>
        <p:nvSpPr>
          <p:cNvPr id="6" name="P-NAV-001-title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28850" y="1409700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External hyperlink, speaker notes, and slide metadata</a:t>
            </a:r>
          </a:p>
        </p:txBody>
      </p:sp>
      <p:sp>
        <p:nvSpPr>
          <p:cNvPr id="7" name="navigation-link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" y="2143125"/>
            <a:ext cx="10382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A"/>
            </a:solidFill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F2933"/>
                </a:solidFill>
                <a:latin typeface="Arial"/>
                <a:ea typeface="Arial"/>
                <a:cs typeface="Arial"/>
              </a:rPr>
              <a:t>Open the </a:t>
            </a:r>
            <a:r>
              <a:rPr sz="2250" b="1" u="sng">
                <a:solidFill>
                  <a:srgbClr val="0563C1"/>
                </a:solidFill>
                <a:latin typeface="Arial"/>
                <a:ea typeface="Arial"/>
                <a:cs typeface="Arial"/>
                <a:hlinkClick xmlns:r="http://schemas.openxmlformats.org/officeDocument/2006/relationships" r:id="rId1"/>
              </a:rPr>
              <a:t>project repository</a:t>
            </a:r>
          </a:p>
        </p:txBody>
      </p:sp>
      <p:sp>
        <p:nvSpPr>
          <p:cNvPr id="8" name="notes-explanation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19250" y="3314700"/>
            <a:ext cx="895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Speaker notes contain a stable case description. The visible slide remains useful without them.</a:t>
            </a:r>
          </a:p>
        </p:txBody>
      </p:sp>
    </p:spTree>
    <p:extLst>
      <p:ext uri="{00000000-0000-4000-8000-00000000000B}">
        <p14:creationId xmlns:p14="http://schemas.microsoft.com/office/powerpoint/2010/main" val="100002"/>
      </p:ext>
    </p:extLst>
  </p:cSld>
</p:sld>
</file>

<file path=ppt/slides/slide11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11-title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4572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Hidden slide boundary</a:t>
            </a:r>
          </a:p>
        </p:txBody>
      </p:sp>
      <p:sp>
        <p:nvSpPr>
          <p:cNvPr id="2" name="slide-11-group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96500" y="5524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2A7F8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A7F8E"/>
                </a:solidFill>
                <a:latin typeface="Arial"/>
                <a:ea typeface="Arial"/>
                <a:cs typeface="Arial"/>
              </a:rPr>
              <a:t>METADATA</a:t>
            </a:r>
          </a:p>
        </p:txBody>
      </p:sp>
      <p:sp>
        <p:nvSpPr>
          <p:cNvPr id="3" name="slide-11-rule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DA"/>
            </a:solidFill>
            <a:prstDash val="solid"/>
          </a:ln>
        </p:spPr>
      </p:sp>
      <p:sp>
        <p:nvSpPr>
          <p:cNvPr id="4" name="slide-11-footer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641985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D6B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D6B78"/>
                </a:solidFill>
                <a:latin typeface="Arial"/>
                <a:ea typeface="Arial"/>
                <a:cs typeface="Arial"/>
              </a:rPr>
              <a:t>OOXML EDGE CASE FIELD GUIDE  •  PPTX  •  11</a:t>
            </a:r>
          </a:p>
        </p:txBody>
      </p:sp>
      <p:sp>
        <p:nvSpPr>
          <p:cNvPr id="5" name="P-META-001-badge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142875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2A7F8E"/>
            </a:solidFill>
            <a:prstDash val="solid"/>
          </a:ln>
        </p:spPr>
        <p:txBody>
          <a:bodyPr xmlns:a="http://schemas.openxmlformats.org/drawingml/2006/main" lIns="38100" tIns="9525" rIns="38100" bIns="9525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P-META-001</a:t>
            </a:r>
          </a:p>
        </p:txBody>
      </p:sp>
      <p:sp>
        <p:nvSpPr>
          <p:cNvPr id="6" name="P-META-001-title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28850" y="1409700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Hidden slide state and total/visible index separation</a:t>
            </a:r>
          </a:p>
        </p:txBody>
      </p:sp>
      <p:sp>
        <p:nvSpPr>
          <p:cNvPr id="7" name="hidden-slide-copy">
            <a:extLst xmlns:a="http://schemas.openxmlformats.org/drawingml/2006/main">
              <a:ext uri="{00000000-0000-4000-8000-000000000004}">
                <a16:creationId xmlns:a16="http://schemas.microsoft.com/office/drawing/2014/main" id="{00000000-0000-4000-8000-00000000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8750" y="2571750"/>
            <a:ext cx="9334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This slide remains in the package and notes model, but normal slide-show and viewer navigation may skip or dim it according to policy.</a:t>
            </a:r>
          </a:p>
        </p:txBody>
      </p:sp>
    </p:spTree>
    <p:extLst>
      <p:ext uri="{00000000-0000-4000-8000-00000000000B}">
        <p14:creationId xmlns:p14="http://schemas.microsoft.com/office/powerpoint/2010/main" val="1000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office-open-xml-viewer contributors</dc:creator>
  <lastModifiedBy>office-open-xml-viewer contributors</lastModifiedBy>
  <dc:title>OOXML Edge Case Field Guide — PPTX</dc:title>
  <dcterms:created xsi:type="dcterms:W3CDTF">2026-01-01T00:00:00Z</dcterms:created>
  <dcterms:modified xsi:type="dcterms:W3CDTF">2026-01-01T00:00:00Z</dcterms:modified>
</coreProperties>
</file>
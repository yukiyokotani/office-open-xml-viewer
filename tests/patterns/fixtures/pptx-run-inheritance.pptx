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Relationships xmlns="http://schemas.openxmlformats.org/package/2006/relationships"><Relationship Id="rId4" Type="http://schemas.openxmlformats.org/officeDocument/2006/relationships/hyperlink" Target="https://example.test/hover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heritance 2"/>
          <p:cNvSpPr txBox="1"/>
          <p:nvPr/>
        </p:nvSpPr>
        <p:spPr>
          <a:xfrm>
            <a:off x="600000" y="5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/>
              <a:t>RUN INHERITS RED</a:t>
            </a:r>
          </a:p>
        </p:txBody>
      </p:sp>
      <p:sp>
        <p:nvSpPr>
          <p:cNvPr id="3" name="Inheritance 3"/>
          <p:cNvSpPr txBox="1"/>
          <p:nvPr/>
        </p:nvSpPr>
        <p:spPr>
          <a:xfrm>
            <a:off x="600000" y="23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fld id="{0FBB9679-570D-4509-9600-E07789CF24BB}" type="datetime">
              <a:rPr/>
              <a:t>FIELD INHERITS RED</a:t>
            </a:fld>
          </a:p>
        </p:txBody>
      </p:sp>
      <p:sp>
        <p:nvSpPr>
          <p:cNvPr id="4" name="Inheritance 4"/>
          <p:cNvSpPr txBox="1"/>
          <p:nvPr/>
        </p:nvSpPr>
        <p:spPr>
          <a:xfrm>
            <a:off x="600000" y="41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>
                <a:noFill/>
                <a:highlight>
                  <a:srgbClr val="F5DD22"/>
                </a:highlight>
              </a:rPr>
              <a:t>INVISIBLE GLYPHS</a:t>
            </a:r>
          </a:p>
        </p:txBody>
      </p:sp>
      <p:sp>
        <p:nvSpPr>
          <p:cNvPr id="5" name="Inheritance 5"/>
          <p:cNvSpPr txBox="1"/>
          <p:nvPr/>
        </p:nvSpPr>
        <p:spPr>
          <a:xfrm>
            <a:off x="600000" y="555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 u="sng">
                <a:ln w="63500">
                  <a:solidFill>
                    <a:srgbClr val="008844"/>
                  </a:solidFill>
                </a:ln>
                <a:noFill/>
                <a:uFill>
                  <a:pattFill prst="pct50">
                    <a:fgClr>
                      <a:srgbClr val="0033EE"/>
                    </a:fgClr>
                    <a:bgClr>
                      <a:srgbClr val="FFDD00"/>
                    </a:bgClr>
                  </a:pattFill>
                </a:uFill>
              </a:rPr>
              <a:t>OUTLINE AND UNDERLINE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heritance 2"/>
          <p:cNvSpPr txBox="1"/>
          <p:nvPr/>
        </p:nvSpPr>
        <p:spPr>
          <a:xfrm>
            <a:off x="600000" y="5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>
            <a:prstTxWarp prst="textArchUp">
              <a:avLst/>
            </a:prstTxWarp>
          </a:bodyPr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 u="sng">
                <a:ln w="63500">
                  <a:solidFill>
                    <a:srgbClr val="008844"/>
                  </a:solidFill>
                </a:ln>
                <a:noFill/>
                <a:uFill>
                  <a:pattFill prst="pct50">
                    <a:fgClr>
                      <a:srgbClr val="0033EE"/>
                    </a:fgClr>
                    <a:bgClr>
                      <a:srgbClr val="FFDD00"/>
                    </a:bgClr>
                  </a:pattFill>
                </a:uFill>
              </a:rPr>
              <a:t>WARP OUTLINE UNDERLINE</a:t>
            </a:r>
          </a:p>
        </p:txBody>
      </p:sp>
      <p:sp>
        <p:nvSpPr>
          <p:cNvPr id="3" name="Inheritance 3"/>
          <p:cNvSpPr txBox="1"/>
          <p:nvPr/>
        </p:nvSpPr>
        <p:spPr>
          <a:xfrm>
            <a:off x="600000" y="35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 u="sng">
                <a:ln w="63500">
                  <a:solidFill>
                    <a:srgbClr val="008844"/>
                  </a:solidFill>
                </a:ln>
                <a:noFill/>
                <a:uFill>
                  <a:gradFill>
                    <a:gsLst>
                      <a:gs pos="0">
                        <a:srgbClr val="00DDDD"/>
                      </a:gs>
                      <a:gs pos="100000">
                        <a:srgbClr val="DD00DD"/>
                      </a:gs>
                    </a:gsLst>
                    <a:lin ang="0"/>
                  </a:gradFill>
                </a:uFill>
              </a:rPr>
              <a:t>GRADIENT UNDERLINE</a:t>
            </a:r>
          </a:p>
        </p:txBody>
      </p:sp>
      <p:sp>
        <p:nvSpPr>
          <p:cNvPr id="4" name="Inheritance 4"/>
          <p:cNvSpPr txBox="1"/>
          <p:nvPr/>
        </p:nvSpPr>
        <p:spPr>
          <a:xfrm>
            <a:off x="600000" y="52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>
            <a:prstTxWarp prst="textArchUp">
              <a:avLst/>
            </a:prstTxWarp>
          </a:bodyPr>
          <a:lstStyle>
            <a:lvl1pPr>
              <a:defRPr sz="4800" kumimoji="1" lang="ja-JP" altLang="en-US" kern="1200" cap="none" normalizeH="1" noProof="1" smtClean="0" smtId="17" bmk="sample">
                <a:solidFill>
                  <a:srgbClr val="D21D54"/>
                </a:solidFill>
                <a:latin typeface="Arial" panose="020B0604020202020204"/>
                <a:cs typeface="Amiri"/>
                <a:sym typeface="Symbol"/>
                <a:hlinkMouseOver r:id="rId4" tooltip="hover"/>
              </a:defRPr>
            </a:lvl1pPr>
          </a:lstStyle>
          <a:p>
            <a:pPr>
              <a:defRPr b="1"/>
            </a:pPr>
            <a:r>
              <a:rPr u="sng">
                <a:ln w="63500">
                  <a:solidFill>
                    <a:srgbClr val="008844"/>
                  </a:solidFill>
                </a:ln>
                <a:noFill/>
                <a:uFill>
                  <a:gradFill>
                    <a:gsLst>
                      <a:gs pos="0">
                        <a:srgbClr val="00DDDD"/>
                      </a:gs>
                      <a:gs pos="100000">
                        <a:srgbClr val="DD00DD"/>
                      </a:gs>
                    </a:gsLst>
                    <a:lin ang="0"/>
                  </a:gradFill>
                </a:uFill>
              </a:rPr>
              <a:t>WARP GRADIENT LINE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eak 2400"/>
          <p:cNvSpPr txBox="1"/>
          <p:nvPr/>
        </p:nvSpPr>
        <p:spPr>
          <a:xfrm>
            <a:off x="600000" y="500000"/>
            <a:ext cx="5000000" cy="21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r>
              <a:rPr sz="2400"/>
              <a:t>BEFORE</a:t>
            </a:r>
            <a:br>
              <a:rPr sz="2400"/>
            </a:br>
            <a:r>
              <a:rPr sz="2400"/>
              <a:t>AFTER</a:t>
            </a:r>
            <a:endParaRPr sz="9600"/>
          </a:p>
        </p:txBody>
      </p:sp>
      <p:sp>
        <p:nvSpPr>
          <p:cNvPr id="3" name="Break 7200"/>
          <p:cNvSpPr txBox="1"/>
          <p:nvPr/>
        </p:nvSpPr>
        <p:spPr>
          <a:xfrm>
            <a:off x="6200000" y="500000"/>
            <a:ext cx="5000000" cy="21000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r>
              <a:rPr sz="2400"/>
              <a:t>BEFORE</a:t>
            </a:r>
            <a:br>
              <a:rPr sz="7200"/>
            </a:br>
            <a:r>
              <a:rPr sz="2400"/>
              <a:t>AFTER</a:t>
            </a:r>
            <a:endParaRPr sz="9600"/>
          </a:p>
        </p:txBody>
      </p:sp>
      <p:graphicFrame>
        <p:nvGraphicFramePr>
          <p:cNvPr id="4" name="Table"/>
          <p:cNvGraphicFramePr/>
          <p:nvPr/>
        </p:nvGraphicFramePr>
        <p:xfrm>
          <a:off x="600000" y="3600000"/>
          <a:ext cx="10500000" cy="1800000"/>
        </p:xfrm>
        <a:graphic>
          <a:graphicData uri="http://schemas.openxmlformats.org/drawingml/2006/table">
            <a:tbl>
              <a:tblPr/>
              <a:tblGrid>
                <a:gridCol w="10500000"/>
              </a:tblGrid>
              <a:tr h="1800000">
                <a:tc>
                  <a:txBody>
                    <a:bodyPr/>
                    <a:lstStyle>
                      <a:defPPr>
                        <a:defRPr lang="ja-JP" sz="2800">
                          <a:solidFill>
                            <a:srgbClr val="D21D54"/>
                          </a:solidFill>
                          <a:cs typeface="Amiri"/>
                        </a:defRPr>
                      </a:defPPr>
                    </a:lstStyle>
                    <a:p>
                      <a:pPr>
                        <a:defRPr b="1"/>
                      </a:pPr>
                      <a:r>
                        <a:rPr/>
                        <a:t>CELL TEXT</a:t>
                      </a:r>
                      <a:fld id="{0FBB9679-570D-4509-9600-E07789CF24BB}" type="datetime">
                        <a:rPr/>
                        <a:t> FIELD TEXT</a:t>
                      </a:fld>
                    </a:p>
                  </a:txBody>
                  <a:tcPr/>
                </a:tc>
              </a:tr>
            </a:tbl>
          </a:graphicData>
        </a:graphic>
      </p:graphicFrame>
    </p:spTree>
  </p:cSld>
</p:sld>
</file>